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1127729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8600"/>
            <a:ext cx="109728" cy="11155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6032"/>
            <a:ext cx="10927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Segoe UI"/>
              </a:rPr>
              <a:t>NARSIMHA REDDY ENGINEERING COLLEGE</a:t>
            </a:r>
          </a:p>
          <a:p>
            <a:pPr algn="ctr">
              <a:spcBef>
                <a:spcPts val="200"/>
              </a:spcBef>
            </a:pPr>
            <a:r>
              <a:rPr sz="850" b="1">
                <a:solidFill>
                  <a:srgbClr val="64748B"/>
                </a:solidFill>
                <a:latin typeface="Segoe UI"/>
              </a:rPr>
              <a:t>(UGC - AUTONOMOUS INSTITUTION  •  APPROVED BY AICTE, NEW DELHI  •  AFFILIATED TO JNTUH)</a:t>
            </a:r>
          </a:p>
          <a:p>
            <a:pPr algn="ctr">
              <a:spcBef>
                <a:spcPts val="200"/>
              </a:spcBef>
            </a:pPr>
            <a:r>
              <a:rPr sz="1200" b="1">
                <a:solidFill>
                  <a:srgbClr val="1E3A8A"/>
                </a:solidFill>
                <a:latin typeface="Segoe UI"/>
              </a:rPr>
              <a:t>DEPARTMENT OF COMPUTER SCIENCE AND ENGINEERING</a:t>
            </a:r>
          </a:p>
          <a:p>
            <a:pPr algn="ctr">
              <a:spcBef>
                <a:spcPts val="200"/>
              </a:spcBef>
            </a:pPr>
            <a:r>
              <a:rPr sz="850" b="1">
                <a:solidFill>
                  <a:srgbClr val="0284C7"/>
                </a:solidFill>
                <a:latin typeface="Segoe UI"/>
              </a:rPr>
              <a:t>MAJOR CAPSTONE PROJECT PRESENTATION  •  ACADEMIC YEAR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44752"/>
            <a:ext cx="1127729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109728" cy="1645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9616"/>
            <a:ext cx="7132320" cy="15361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900" b="1">
                <a:solidFill>
                  <a:srgbClr val="0284C7"/>
                </a:solidFill>
                <a:latin typeface="Segoe UI"/>
              </a:rPr>
              <a:t>PROJECT CODE: BPY-CSE-2666  •  CLINICAL DECISION SUPPORT SYSTEM (CDSS)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0F172A"/>
                </a:solidFill>
                <a:latin typeface="Segoe UI"/>
              </a:rPr>
              <a:t>HealthNova AI: Patient Risk Level Prediction System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34155"/>
                </a:solidFill>
                <a:latin typeface="Segoe UI"/>
              </a:rPr>
              <a:t>Explainable Clinical Acuity Stratification with Multi-Class ML &amp; TreeSHAP Attribution</a:t>
            </a:r>
          </a:p>
          <a:p>
            <a:pPr>
              <a:spcBef>
                <a:spcPts val="300"/>
              </a:spcBef>
            </a:pPr>
            <a:r>
              <a:rPr sz="919">
                <a:solidFill>
                  <a:srgbClr val="475569"/>
                </a:solidFill>
                <a:latin typeface="Segoe UI"/>
              </a:rPr>
              <a:t>Continuous bedside telemetry monitoring combining Daphne ASGI real-time channels with calibrated Random Forest inference to prevent emergency department &amp; ICU deterioration.</a:t>
            </a:r>
          </a:p>
          <a:p>
            <a:pPr>
              <a:spcBef>
                <a:spcPts val="300"/>
              </a:spcBef>
            </a:pPr>
            <a:r>
              <a:rPr sz="819" b="1">
                <a:solidFill>
                  <a:srgbClr val="1E3A8A"/>
                </a:solidFill>
                <a:latin typeface="Segoe UI"/>
              </a:rPr>
              <a:t>Stack: Python 3.13 • Django 5 • Daphne ASGI • Next.js 16.3 • React 19 • Neon PostgreSQL • pgvector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17904"/>
            <a:ext cx="169164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4" y="1554480"/>
            <a:ext cx="1581912" cy="6035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Segoe UI"/>
              </a:rPr>
              <a:t>0.985</a:t>
            </a:r>
          </a:p>
          <a:p>
            <a:pPr algn="ctr">
              <a:spcBef>
                <a:spcPts val="100"/>
              </a:spcBef>
            </a:pPr>
            <a:r>
              <a:rPr sz="750" b="1">
                <a:solidFill>
                  <a:srgbClr val="0F172A"/>
                </a:solidFill>
                <a:latin typeface="Segoe UI"/>
              </a:rPr>
              <a:t>Champion ROC-AUC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5-Fold Stratified 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48088" y="1517904"/>
            <a:ext cx="169164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2952" y="1554480"/>
            <a:ext cx="1581912" cy="6035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Segoe UI"/>
              </a:rPr>
              <a:t>0.0027</a:t>
            </a:r>
          </a:p>
          <a:p>
            <a:pPr algn="ctr">
              <a:spcBef>
                <a:spcPts val="100"/>
              </a:spcBef>
            </a:pPr>
            <a:r>
              <a:rPr sz="750" b="1">
                <a:solidFill>
                  <a:srgbClr val="0F172A"/>
                </a:solidFill>
                <a:latin typeface="Segoe UI"/>
              </a:rPr>
              <a:t>Calibrated Brier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Near-Zero Prob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169164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4" y="2322576"/>
            <a:ext cx="1581912" cy="6035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Segoe UI"/>
              </a:rPr>
              <a:t>100%</a:t>
            </a:r>
          </a:p>
          <a:p>
            <a:pPr algn="ctr">
              <a:spcBef>
                <a:spcPts val="100"/>
              </a:spcBef>
            </a:pPr>
            <a:r>
              <a:rPr sz="750" b="1">
                <a:solidFill>
                  <a:srgbClr val="0F172A"/>
                </a:solidFill>
                <a:latin typeface="Segoe UI"/>
              </a:rPr>
              <a:t>Acute Recall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Zero Missed Crises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48088" y="2286000"/>
            <a:ext cx="169164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2952" y="2322576"/>
            <a:ext cx="1581912" cy="6035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284C7"/>
                </a:solidFill>
                <a:latin typeface="Segoe UI"/>
              </a:rPr>
              <a:t>0.136ms</a:t>
            </a:r>
          </a:p>
          <a:p>
            <a:pPr algn="ctr">
              <a:spcBef>
                <a:spcPts val="100"/>
              </a:spcBef>
            </a:pPr>
            <a:r>
              <a:rPr sz="750" b="1">
                <a:solidFill>
                  <a:srgbClr val="0F172A"/>
                </a:solidFill>
                <a:latin typeface="Segoe UI"/>
              </a:rPr>
              <a:t>Inference Latency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CPU Scikit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18688"/>
            <a:ext cx="11277295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1E3A8A"/>
                </a:solidFill>
                <a:latin typeface="Segoe UI"/>
              </a:rPr>
              <a:t>PROJECT PRESENTATION TEAM  (DEPARTMENT OF COMPUTER SCIENCE &amp; ENGINEERING)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21488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21488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66444" y="3767328"/>
            <a:ext cx="530352" cy="53035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1200" b="1">
                <a:solidFill>
                  <a:srgbClr val="0284C7"/>
                </a:solidFill>
                <a:latin typeface="Segoe UI"/>
              </a:rPr>
              <a:t>VS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334256"/>
            <a:ext cx="2002536" cy="9784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VEDHASREE</a:t>
            </a:r>
          </a:p>
          <a:p>
            <a:pPr algn="ctr">
              <a:spcBef>
                <a:spcPts val="300"/>
              </a:spcBef>
            </a:pPr>
            <a:r>
              <a:rPr sz="1150" b="1">
                <a:solidFill>
                  <a:srgbClr val="0284C7"/>
                </a:solidFill>
                <a:latin typeface="Consolas"/>
              </a:rPr>
              <a:t>23X01A05Z8</a:t>
            </a:r>
          </a:p>
          <a:p>
            <a:pPr algn="ctr">
              <a:spcBef>
                <a:spcPts val="300"/>
              </a:spcBef>
            </a:pPr>
            <a:r>
              <a:rPr sz="90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38628" y="3657600"/>
            <a:ext cx="21488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38628" y="3657600"/>
            <a:ext cx="21488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47872" y="3767328"/>
            <a:ext cx="530352" cy="53035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/>
              </a:rPr>
              <a:t>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1780" y="4334256"/>
            <a:ext cx="2002536" cy="9784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PRASHANTH</a:t>
            </a:r>
          </a:p>
          <a:p>
            <a:pPr algn="ctr">
              <a:spcBef>
                <a:spcPts val="300"/>
              </a:spcBef>
            </a:pPr>
            <a:r>
              <a:rPr sz="1150" b="1">
                <a:solidFill>
                  <a:srgbClr val="0284C7"/>
                </a:solidFill>
                <a:latin typeface="Consolas"/>
              </a:rPr>
              <a:t>23X01A05Y1</a:t>
            </a:r>
          </a:p>
          <a:p>
            <a:pPr algn="ctr">
              <a:spcBef>
                <a:spcPts val="300"/>
              </a:spcBef>
            </a:pPr>
            <a:r>
              <a:rPr sz="90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0056" y="3657600"/>
            <a:ext cx="21488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0056" y="3657600"/>
            <a:ext cx="21488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29300" y="3767328"/>
            <a:ext cx="530352" cy="53035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1200" b="1">
                <a:solidFill>
                  <a:srgbClr val="0284C7"/>
                </a:solidFill>
                <a:latin typeface="Segoe UI"/>
              </a:rPr>
              <a:t>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4334256"/>
            <a:ext cx="2002536" cy="9784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ABHINAY</a:t>
            </a:r>
          </a:p>
          <a:p>
            <a:pPr algn="ctr">
              <a:spcBef>
                <a:spcPts val="300"/>
              </a:spcBef>
            </a:pPr>
            <a:r>
              <a:rPr sz="1150" b="1">
                <a:solidFill>
                  <a:srgbClr val="0284C7"/>
                </a:solidFill>
                <a:latin typeface="Consolas"/>
              </a:rPr>
              <a:t>23X01A05AG</a:t>
            </a:r>
          </a:p>
          <a:p>
            <a:pPr algn="ctr">
              <a:spcBef>
                <a:spcPts val="300"/>
              </a:spcBef>
            </a:pPr>
            <a:r>
              <a:rPr sz="90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01484" y="3657600"/>
            <a:ext cx="21488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01484" y="3657600"/>
            <a:ext cx="21488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10728" y="3767328"/>
            <a:ext cx="530352" cy="53035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/>
              </a:rPr>
              <a:t>RH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4636" y="4334256"/>
            <a:ext cx="2002536" cy="9784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RAHUL</a:t>
            </a:r>
          </a:p>
          <a:p>
            <a:pPr algn="ctr">
              <a:spcBef>
                <a:spcPts val="300"/>
              </a:spcBef>
            </a:pPr>
            <a:r>
              <a:rPr sz="1150" b="1">
                <a:solidFill>
                  <a:srgbClr val="0284C7"/>
                </a:solidFill>
                <a:latin typeface="Consolas"/>
              </a:rPr>
              <a:t>23X01A05AL</a:t>
            </a:r>
          </a:p>
          <a:p>
            <a:pPr algn="ctr">
              <a:spcBef>
                <a:spcPts val="300"/>
              </a:spcBef>
            </a:pPr>
            <a:r>
              <a:rPr sz="90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2912" y="3657600"/>
            <a:ext cx="21488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82912" y="3657600"/>
            <a:ext cx="21488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92156" y="3767328"/>
            <a:ext cx="530352" cy="53035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1200" b="1">
                <a:solidFill>
                  <a:srgbClr val="0284C7"/>
                </a:solidFill>
                <a:latin typeface="Segoe UI"/>
              </a:rPr>
              <a:t>PN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4334256"/>
            <a:ext cx="2002536" cy="9784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PRANAY</a:t>
            </a:r>
          </a:p>
          <a:p>
            <a:pPr algn="ctr">
              <a:spcBef>
                <a:spcPts val="300"/>
              </a:spcBef>
            </a:pPr>
            <a:r>
              <a:rPr sz="1150" b="1">
                <a:solidFill>
                  <a:srgbClr val="0284C7"/>
                </a:solidFill>
                <a:latin typeface="Consolas"/>
              </a:rPr>
              <a:t>23X01A05AA</a:t>
            </a:r>
          </a:p>
          <a:p>
            <a:pPr algn="ctr">
              <a:spcBef>
                <a:spcPts val="300"/>
              </a:spcBef>
            </a:pPr>
            <a:r>
              <a:rPr sz="90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40680"/>
            <a:ext cx="266090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5440680"/>
            <a:ext cx="2660904" cy="45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532120"/>
            <a:ext cx="2478024" cy="7040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700" b="1">
                <a:solidFill>
                  <a:srgbClr val="0284C7"/>
                </a:solidFill>
                <a:latin typeface="Segoe UI"/>
              </a:rPr>
              <a:t>0.985</a:t>
            </a:r>
          </a:p>
          <a:p>
            <a:pPr algn="ctr">
              <a:spcBef>
                <a:spcPts val="100"/>
              </a:spcBef>
            </a:pPr>
            <a:r>
              <a:rPr sz="900" b="1">
                <a:solidFill>
                  <a:srgbClr val="0F172A"/>
                </a:solidFill>
                <a:latin typeface="Segoe UI"/>
              </a:rPr>
              <a:t>Champion ROC-AUC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Segoe UI"/>
              </a:rPr>
              <a:t>5-Fold Stratified Cross-Validation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28416" y="5440680"/>
            <a:ext cx="266090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328416" y="5440680"/>
            <a:ext cx="2660904" cy="45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5532120"/>
            <a:ext cx="2478024" cy="7040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700" b="1">
                <a:solidFill>
                  <a:srgbClr val="0284C7"/>
                </a:solidFill>
                <a:latin typeface="Segoe UI"/>
              </a:rPr>
              <a:t>0.0027</a:t>
            </a:r>
          </a:p>
          <a:p>
            <a:pPr algn="ctr">
              <a:spcBef>
                <a:spcPts val="100"/>
              </a:spcBef>
            </a:pPr>
            <a:r>
              <a:rPr sz="900" b="1">
                <a:solidFill>
                  <a:srgbClr val="0F172A"/>
                </a:solidFill>
                <a:latin typeface="Segoe UI"/>
              </a:rPr>
              <a:t>Calibrated Brier Score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Segoe UI"/>
              </a:rPr>
              <a:t>Near-Zero Probabilistic Error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5440680"/>
            <a:ext cx="266090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99632" y="5440680"/>
            <a:ext cx="2660904" cy="45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5532120"/>
            <a:ext cx="2478024" cy="7040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700" b="1">
                <a:solidFill>
                  <a:srgbClr val="0284C7"/>
                </a:solidFill>
                <a:latin typeface="Segoe UI"/>
              </a:rPr>
              <a:t>100%</a:t>
            </a:r>
          </a:p>
          <a:p>
            <a:pPr algn="ctr">
              <a:spcBef>
                <a:spcPts val="100"/>
              </a:spcBef>
            </a:pPr>
            <a:r>
              <a:rPr sz="900" b="1">
                <a:solidFill>
                  <a:srgbClr val="0F172A"/>
                </a:solidFill>
                <a:latin typeface="Segoe UI"/>
              </a:rPr>
              <a:t>Acute Risk Recall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Segoe UI"/>
              </a:rPr>
              <a:t>Zero Missed Medical Crises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70848" y="5440680"/>
            <a:ext cx="266090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70848" y="5440680"/>
            <a:ext cx="2660904" cy="45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62288" y="5532120"/>
            <a:ext cx="2478024" cy="7040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700" b="1">
                <a:solidFill>
                  <a:srgbClr val="0284C7"/>
                </a:solidFill>
                <a:latin typeface="Segoe UI"/>
              </a:rPr>
              <a:t>0.136ms</a:t>
            </a:r>
          </a:p>
          <a:p>
            <a:pPr algn="ctr">
              <a:spcBef>
                <a:spcPts val="100"/>
              </a:spcBef>
            </a:pPr>
            <a:r>
              <a:rPr sz="900" b="1">
                <a:solidFill>
                  <a:srgbClr val="0F172A"/>
                </a:solidFill>
                <a:latin typeface="Segoe UI"/>
              </a:rPr>
              <a:t>Inference Latency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Segoe UI"/>
              </a:rPr>
              <a:t>Sub-Millisecond CPU Runtime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1908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Narsimha Reddy Engineering College  •  Maisammaguda, Secunderabad  •  HealthNova AI Project Code: BPY-CSE-2666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BE123C"/>
                </a:solidFill>
                <a:latin typeface="Segoe UI"/>
              </a:rPr>
              <a:t>SLIDE 02 / 11  •  CLINICAL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9F1239"/>
                </a:solidFill>
                <a:latin typeface="Segoe UI"/>
              </a:rPr>
              <a:t>Clinical Problem Statement &amp; Unmet Need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BE123C"/>
                </a:solidFill>
                <a:latin typeface="Segoe UI"/>
              </a:rPr>
              <a:t>Overcoming the Limitations of Traditional Scoring in High-Acuity Hospital Wards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Cardiovascular diseases cause 17.9M deaths annually. In ED and ICU wards, clinicians face cognitive overload and rigid cutoffs.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BE123C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Static Scoring Failure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Traditional calculators (Framingham, TIMI, APACHE II) rely on static admission baselines rather than continuous telemetry.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Coarse linear heuristics miss active bedside clinical deterioration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Scores remain unchanged for 24+ hours while vitals fluctuate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Ignores non-linear interactions across multi-organ biomarkers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E11D48"/>
                </a:solidFill>
                <a:latin typeface="Segoe UI"/>
              </a:rPr>
              <a:t>Limitation: Static 24h Clinical Baselines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BE123C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Alert Fatigue &amp; Black-Box AI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High false positive alarm rates desensitize bedside nurses, while opaque deep neural networks create trust barriers.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85%+ of standard EHR alarms are false positives causing burnout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Complex neural networks act as opaque 'black boxes' without audit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Doctors cannot ethically sign off on unexplained 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E11D48"/>
                </a:solidFill>
                <a:latin typeface="Segoe UI"/>
              </a:rPr>
              <a:t>Barrier: 85%+ False Alarms &amp; Skepticism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BE123C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The HealthNova Solution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A continuous, calibrated multi-class AI architecture with bedside explainability and deterministic clinical fail-safes.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Dynamic 4-tier stratification: Low, Moderate, High, and Critical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Exact TreeSHAP biomarker attributions computed in sub-milliseconds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Deterministic rules (qSOFA, NEWS2) override AI in acute crisis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E11D48"/>
                </a:solidFill>
                <a:latin typeface="Segoe UI"/>
              </a:rPr>
              <a:t>Paradigm: Continuous Calibrated XAI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E11D48"/>
                </a:solidFill>
                <a:latin typeface="Segoe UI"/>
              </a:rPr>
              <a:t>17.9M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9F1239"/>
                </a:solidFill>
                <a:latin typeface="Segoe UI"/>
              </a:rPr>
              <a:t>Annual CVD Deaths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Leading Global Mortality (WHO)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E11D48"/>
                </a:solidFill>
                <a:latin typeface="Segoe UI"/>
              </a:rPr>
              <a:t>85%+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9F1239"/>
                </a:solidFill>
                <a:latin typeface="Segoe UI"/>
              </a:rPr>
              <a:t>Alarm Fatigue Rate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False Positive Telemetry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E11D48"/>
                </a:solidFill>
                <a:latin typeface="Segoe UI"/>
              </a:rPr>
              <a:t>4 Tiers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9F1239"/>
                </a:solidFill>
                <a:latin typeface="Segoe UI"/>
              </a:rPr>
              <a:t>Dynamic Acuity Levels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Low, Mod, High, and Critical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E11D48"/>
                </a:solidFill>
                <a:latin typeface="Segoe UI"/>
              </a:rPr>
              <a:t>Zero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9F1239"/>
                </a:solidFill>
                <a:latin typeface="Segoe UI"/>
              </a:rPr>
              <a:t>Autonomous Prescriptions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100% Clinician Sign-Off Mandated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SLIDE 03 / 11  •  SYSTEM ARCHITECTURE &amp; DUAL-STACK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312E81"/>
                </a:solidFill>
                <a:latin typeface="Segoe UI"/>
              </a:rPr>
              <a:t>System Architecture &amp; Dual-Stack Foundation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4338CA"/>
                </a:solidFill>
                <a:latin typeface="Segoe UI"/>
              </a:rPr>
              <a:t>Decoupled Modern Architecture for Ultra-Low Latency Telemetry and High Reliability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A resilient hybrid stack combining Python Django ASGI backend services with Next.js 16.3 React 19 frontend workspaces.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4338CA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Backend Services (Python/Django)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High-performance Django 5.0.14 running on Daphne ASGI with Redis 7 Pub/Sub and Celery distributed background workers.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Asynchronous WebSocket channels stream telemetry with &lt; 20ms roundtrip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Celery queues offload batch scoring, calibration, and drift checks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REST API endpoints protected by JWT and strict RBAC permission matrices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6366F1"/>
                </a:solidFill>
                <a:latin typeface="Segoe UI"/>
              </a:rPr>
              <a:t>Runtime: Python 3.13 • Daphne ASGI • Redis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4338CA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Authoritative Data (Neon PostgreSQL)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Serverless Neon Lakebase PostgreSQL 16 serving as the single source of truth with zero patient PHI in shared indices.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Instant database branching enables zero-risk schema migrations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Pgvector extension stores clinical knowledge embeddings safely isolated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Connection pooling handles sudden ICU telemetry spikes seamlessly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6366F1"/>
                </a:solidFill>
                <a:latin typeface="Segoe UI"/>
              </a:rPr>
              <a:t>Data Layer: Neon Postgres 16 • pgvector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4338CA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Frontend Workspaces (Next.js)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173 prerendered and dynamic clinical routes built with Next.js 16.3 Turbopack, React 19, and Tailwind CSS tokens.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Custom SVG telemetry engines render continuous waveforms at 120 FPS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Role-tailored interfaces for Physicians, Triage Nurses, and Patients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Zero external client tracking, strict CSP, and sub-250ms page hydration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6366F1"/>
                </a:solidFill>
                <a:latin typeface="Segoe UI"/>
              </a:rPr>
              <a:t>Interface: Next.js 16.3 • React 19 • Turbopack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6366F1"/>
                </a:solidFill>
                <a:latin typeface="Segoe UI"/>
              </a:rPr>
              <a:t>173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312E81"/>
                </a:solidFill>
                <a:latin typeface="Segoe UI"/>
              </a:rPr>
              <a:t>App Routes Compiled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Turbopack Verified Workspaces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6366F1"/>
                </a:solidFill>
                <a:latin typeface="Segoe UI"/>
              </a:rPr>
              <a:t>&lt; 20ms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312E81"/>
                </a:solidFill>
                <a:latin typeface="Segoe UI"/>
              </a:rPr>
              <a:t>Real-Time WebSocket Sync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Daphne ASGI Channel Roundtrip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6366F1"/>
                </a:solidFill>
                <a:latin typeface="Segoe UI"/>
              </a:rPr>
              <a:t>Zero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312E81"/>
                </a:solidFill>
                <a:latin typeface="Segoe UI"/>
              </a:rPr>
              <a:t>Shared PHI Vectors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Authoritative Neon Isolate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6366F1"/>
                </a:solidFill>
                <a:latin typeface="Segoe UI"/>
              </a:rPr>
              <a:t>100%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312E81"/>
                </a:solidFill>
                <a:latin typeface="Segoe UI"/>
              </a:rPr>
              <a:t>Responsive Clinical Portals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Physician, Nurse, Patient,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SLIDE 04 / 11  •  MACHINE LEARNING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064E3B"/>
                </a:solidFill>
                <a:latin typeface="Segoe UI"/>
              </a:rPr>
              <a:t>Machine Learning Pipeline &amp; Champion Model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47857"/>
                </a:solidFill>
                <a:latin typeface="Segoe UI"/>
              </a:rPr>
              <a:t>Rigorous Evaluation, Isotonic Calibration, and Sub-Millisecond Inference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Evaluated against standard clinical cohorts with multi-class Platt/Isotonic calibration to prevent overconfident misclassifications.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Champion Model Selection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Evaluated against standard clinical cohorts; Random Forest with 150 calibrated estimators achieved superior discrimination.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Outperformed AdaBoost, Gradient Boosting, and SVM on validation folds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Tuned tree depth balances sub-millisecond execution with accuracy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Bootstrap aggregating minimizes overfitting across out-of-distribution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59669"/>
                </a:solidFill>
                <a:latin typeface="Segoe UI"/>
              </a:rPr>
              <a:t>Architecture: Calibrated Random Forest (150 Trees)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Probabilistic Calibration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Multi-class Platt and Isotonic calibration maps raw ensemble votes directly into true posterior clinical probabilities.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Calibrated Brier score of 0.0027 demonstrates near-perfect alignment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Expected Calibration Error (ECE) minimized to 0.012 across all quantiles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Guarantees a 70% risk output corresponds precisely to a 7-in-10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59669"/>
                </a:solidFill>
                <a:latin typeface="Segoe UI"/>
              </a:rPr>
              <a:t>Metric: Brier Score 0.0027 • ECE 0.012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Sub-Millisecond Inference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Production-optimized Scikit-Learn runtime executing complete patient feature inference and vectorization in 0.136ms.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Lightweight CPU execution eliminates costly GPU accelerator dependencies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Seamlessly recalculates risk score every second as patient vitals shift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Pre-allocated vector pipelines guarantee deterministic runtime latency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59669"/>
                </a:solidFill>
                <a:latin typeface="Segoe UI"/>
              </a:rPr>
              <a:t>Execution: 0.136ms CPU Inference 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59669"/>
                </a:solidFill>
                <a:latin typeface="Segoe UI"/>
              </a:rPr>
              <a:t>0.985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64E3B"/>
                </a:solidFill>
                <a:latin typeface="Segoe UI"/>
              </a:rPr>
              <a:t>Champion ROC-AUC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5-Fold Stratified Cross-Validation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59669"/>
                </a:solidFill>
                <a:latin typeface="Segoe UI"/>
              </a:rPr>
              <a:t>0.981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64E3B"/>
                </a:solidFill>
                <a:latin typeface="Segoe UI"/>
              </a:rPr>
              <a:t>Precision-Recall AUC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High Precision on Minority Classes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59669"/>
                </a:solidFill>
                <a:latin typeface="Segoe UI"/>
              </a:rPr>
              <a:t>0.0027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64E3B"/>
                </a:solidFill>
                <a:latin typeface="Segoe UI"/>
              </a:rPr>
              <a:t>Calibrated Brier Score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Near-Zero Probabilistic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59669"/>
                </a:solidFill>
                <a:latin typeface="Segoe UI"/>
              </a:rPr>
              <a:t>150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64E3B"/>
                </a:solidFill>
                <a:latin typeface="Segoe UI"/>
              </a:rPr>
              <a:t>Calibrated Trees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Ensemble Decision Estimators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0F766E"/>
                </a:solidFill>
                <a:latin typeface="Segoe UI"/>
              </a:rPr>
              <a:t>SLIDE 05 / 11  •  EXPLAINABLE AI (XAI) &amp; TREESHAP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134E4A"/>
                </a:solidFill>
                <a:latin typeface="Segoe UI"/>
              </a:rPr>
              <a:t>Explainable AI (XAI) &amp; TreeSHAP Attribution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766E"/>
                </a:solidFill>
                <a:latin typeface="Segoe UI"/>
              </a:rPr>
              <a:t>Deconstructing Risk Scores into Quantifiable Biomarker Drivers for Every Patient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Eliminating AI skepticism by translating complex ensemble tree splits into clear positive risk contributors and protective markers.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134E4A"/>
                </a:solidFill>
                <a:latin typeface="Segoe UI"/>
              </a:rPr>
              <a:t>Mathematical TreeSHAP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Computes exact Shapley values from cooperative game theory across all 150 decision trees relative to expected risk base value.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Polynomial-time tree traversal computes local attributions in &lt; 12ms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Satisfies efficiency, symmetry, additivity, and dummy axioms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Guarantees that the sum of feature contributions equals predicted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D9488"/>
                </a:solidFill>
                <a:latin typeface="Segoe UI"/>
              </a:rPr>
              <a:t>Theory: Cooperative Game Theory Shapley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134E4A"/>
                </a:solidFill>
                <a:latin typeface="Segoe UI"/>
              </a:rPr>
              <a:t>Biomarker Risk Drivers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Deconstructs patient telemetry into escalating hazard factors and protective stabilizing markers for immediate clinician review.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Acute stressors: ST-segment depression (+26%) and Lactic Acid (+18%)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Protective buffers: Normal Serum Potassium (-8%) moderates escalation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Interactive waterfall charts visually display each parameter bedside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D9488"/>
                </a:solidFill>
                <a:latin typeface="Segoe UI"/>
              </a:rPr>
              <a:t>Decomposition: Hazard vs Protective Stabilizers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134E4A"/>
                </a:solidFill>
                <a:latin typeface="Segoe UI"/>
              </a:rPr>
              <a:t>Bedside SBAR Synthesis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Automatically translates numeric attributions into standardized SBAR clinician shift handoff reports.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Highlights top 3 modifiable clinical biomarkers requiring intervention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Synthesizes concise nursing shift-change reports with actionable targets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Reduces clinician cognitive load and eliminates transfer miscommunication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D9488"/>
                </a:solidFill>
                <a:latin typeface="Segoe UI"/>
              </a:rPr>
              <a:t>Handover: Structured Bedside SBAR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D9488"/>
                </a:solidFill>
                <a:latin typeface="Segoe UI"/>
              </a:rPr>
              <a:t>0.350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34E4A"/>
                </a:solidFill>
                <a:latin typeface="Segoe UI"/>
              </a:rPr>
              <a:t>Baseline E[f(x)]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Population Baseline Risk Mean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D9488"/>
                </a:solidFill>
                <a:latin typeface="Segoe UI"/>
              </a:rPr>
              <a:t>14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34E4A"/>
                </a:solidFill>
                <a:latin typeface="Segoe UI"/>
              </a:rPr>
              <a:t>Clinical Biomarkers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Continuous Vital Signs &amp; Labs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D9488"/>
                </a:solidFill>
                <a:latin typeface="Segoe UI"/>
              </a:rPr>
              <a:t>100%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34E4A"/>
                </a:solidFill>
                <a:latin typeface="Segoe UI"/>
              </a:rPr>
              <a:t>Mathematical Fidelity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Zero Black-Box Opacity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D9488"/>
                </a:solidFill>
                <a:latin typeface="Segoe UI"/>
              </a:rPr>
              <a:t>&lt; 12ms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34E4A"/>
                </a:solidFill>
                <a:latin typeface="Segoe UI"/>
              </a:rPr>
              <a:t>TreeSHAP Latency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Bedside Waterfall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B45309"/>
                </a:solidFill>
                <a:latin typeface="Segoe UI"/>
              </a:rPr>
              <a:t>SLIDE 06 / 11  •  SAFETY PROTOCOLS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78350F"/>
                </a:solidFill>
                <a:latin typeface="Segoe UI"/>
              </a:rPr>
              <a:t>Deterministic Safety &amp; Algorithmic Guardrails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B45309"/>
                </a:solidFill>
                <a:latin typeface="Segoe UI"/>
              </a:rPr>
              <a:t>Fail-Safe Clinical Invariants and Uncertainty-Based Abstention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AI never supersedes licensed clinicians. Multi-agent validation intercepts dangerous inferences before they reach the bedside.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B45309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78350F"/>
                </a:solidFill>
                <a:latin typeface="Segoe UI"/>
              </a:rPr>
              <a:t>Deterministic Overrides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Hardcoded medical rules strictly supersede machine learning predictions during acute physiological crisis or ward deterioration.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Immediate CRITICAL escalation if qSOFA &gt;= 2 or NEWS2 &gt;= 5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Severe hypertensive crisis triggers priority alarm if SBP &gt; 180 mmHg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Zero opportunity for algorithmic hallucinations during active shock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D97706"/>
                </a:solidFill>
                <a:latin typeface="Segoe UI"/>
              </a:rPr>
              <a:t>Guardrail: Deterministic qSOFA &amp; NEWS2 Overrides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B45309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78350F"/>
                </a:solidFill>
                <a:latin typeface="Segoe UI"/>
              </a:rPr>
              <a:t>Uncertainty Abstention Gate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When Shannon entropy across prediction probability classes exceeds the safety threshold, the system autonomously abstains.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Prevents overconfident classifications in ambiguous borderline cases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Flags case: 'Prediction requires review — high epistemic uncertainty'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Prompts attending physician to order confirmatory STAT laboratory workups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D97706"/>
                </a:solidFill>
                <a:latin typeface="Segoe UI"/>
              </a:rPr>
              <a:t>Safety Gate: Shannon Entropy H &gt;= 0.79 Abstention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B45309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78350F"/>
                </a:solidFill>
                <a:latin typeface="Segoe UI"/>
              </a:rPr>
              <a:t>Prompt Injection Defense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Hardened input sanitization and semantic security scanners prevent prompt leakage, adversarial tampering, and unauthorized access.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Regex and semantic embeddings scan clinical inputs for injection attempts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Context minimization strips patient identifiers before agent orchestration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Strict tool allowlisting prevents arbitrary shell, SQL, or raw data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D97706"/>
                </a:solidFill>
                <a:latin typeface="Segoe UI"/>
              </a:rPr>
              <a:t>Security: Semantic Defense &amp; Zero PHI Vectors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Segoe UI"/>
              </a:rPr>
              <a:t>H &gt;= 0.79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78350F"/>
                </a:solidFill>
                <a:latin typeface="Segoe UI"/>
              </a:rPr>
              <a:t>Abstention Threshold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Shannon Epistemic Uncertainty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Segoe UI"/>
              </a:rPr>
              <a:t>100%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78350F"/>
                </a:solidFill>
                <a:latin typeface="Segoe UI"/>
              </a:rPr>
              <a:t>Human-in-the-Loop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Zero Autonomous Prescriptions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Segoe UI"/>
              </a:rPr>
              <a:t>21 CFR 11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78350F"/>
                </a:solidFill>
                <a:latin typeface="Segoe UI"/>
              </a:rPr>
              <a:t>Audit Traceability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Immutable PostgreSQL Audit 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Segoe UI"/>
              </a:rPr>
              <a:t>Zero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78350F"/>
                </a:solidFill>
                <a:latin typeface="Segoe UI"/>
              </a:rPr>
              <a:t>Direct PHI Exposure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RBAC Context Minimization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SLIDE 07 / 11  •  ATTENDING PHYSICIAN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0C4A6E"/>
                </a:solidFill>
                <a:latin typeface="Segoe UI"/>
              </a:rPr>
              <a:t>Attending Physician &amp; Cardiologist Workspace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284C7"/>
                </a:solidFill>
                <a:latin typeface="Segoe UI"/>
              </a:rPr>
              <a:t>Authoritative Clinical Decision Center with Sovereign Overrides (/doctor)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Designed for hospital cardiologists to manage ICU wards, review high-acuity cases, and sign off on clinical directives.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ICU Ward Telemetry HUD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Comprehensive multi-patient surveillance dashboard displaying real-time beds, calibrated acuity badges, and confidence intervals.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Color-coded risk badges (Low: Green, Med: Yellow, High: Orange, Crit: Red)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Instant drill-down reveals patient ECG strips, labs, and TreeSHAP waterfalls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Continuous 120 FPS SVG vital trends updated live via Daphne WebSockets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369A1"/>
                </a:solidFill>
                <a:latin typeface="Segoe UI"/>
              </a:rPr>
              <a:t>Interface: Real-Time ICU Command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Mandatory Review Queue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Patients stratified into High or Critical risk are automatically quarantined into a dedicated review queue requiring physician action.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Directives cannot be finalized until an attending physician signs off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Sorts patients by urgency and rate of vital deterioration (delta-NEWS2)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Eliminates overlooked cases during high-stress ward shifts and handovers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369A1"/>
                </a:solidFill>
                <a:latin typeface="Segoe UI"/>
              </a:rPr>
              <a:t>Workflow: High-Acuity Gatekeeping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Sovereign Clinical Overrides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Physicians retain absolute authority to Concur, Override, or Request STAT repeat diagnostics with 21 CFR Part 11 digital signatures.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Mandatory clinical rationale input required when doctor overrides ML score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Generates immutable cryptographic SHA-256 audit entries in Neon DB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Ensures complete legal traceability, clinician autonomy, and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369A1"/>
                </a:solidFill>
                <a:latin typeface="Segoe UI"/>
              </a:rPr>
              <a:t>Authority: Sovereign Physician Overrides &amp;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369A1"/>
                </a:solidFill>
                <a:latin typeface="Segoe UI"/>
              </a:rPr>
              <a:t>3-Action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C4A6E"/>
                </a:solidFill>
                <a:latin typeface="Segoe UI"/>
              </a:rPr>
              <a:t>Decision Matrix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Concur, Override, or STAT Repeat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369A1"/>
                </a:solidFill>
                <a:latin typeface="Segoe UI"/>
              </a:rPr>
              <a:t>95% CI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C4A6E"/>
                </a:solidFill>
                <a:latin typeface="Segoe UI"/>
              </a:rPr>
              <a:t>Confidence Bounds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Statistical Acuity Certainty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369A1"/>
                </a:solidFill>
                <a:latin typeface="Segoe UI"/>
              </a:rPr>
              <a:t>SHA-256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C4A6E"/>
                </a:solidFill>
                <a:latin typeface="Segoe UI"/>
              </a:rPr>
              <a:t>Signature Hash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21 CFR Part 11 Legal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369A1"/>
                </a:solidFill>
                <a:latin typeface="Segoe UI"/>
              </a:rPr>
              <a:t>&lt; 20ms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C4A6E"/>
                </a:solidFill>
                <a:latin typeface="Segoe UI"/>
              </a:rPr>
              <a:t>Ward Synchronization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Daphne WebSocket Broadcasts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SLIDE 08 / 11  •  EMERGENCY TRIAGE NURSE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0369A1"/>
                </a:solidFill>
                <a:latin typeface="Segoe UI"/>
              </a:rPr>
              <a:t>Emergency Triage Nurse Workspace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284C7"/>
                </a:solidFill>
                <a:latin typeface="Segoe UI"/>
              </a:rPr>
              <a:t>Frontline Bedside Intake, ESI Scoring, and Deterioration Alarms (/nurse)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Optimized for emergency department nurses requiring high-speed vital sign entry and instant physician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369A1"/>
                </a:solidFill>
                <a:latin typeface="Segoe UI"/>
              </a:rPr>
              <a:t>Rapid ESI Triage Intake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Standardized Emergency Severity Index (ESI Levels 1 to 5) sorting incoming arrivals based on acute physiological stability.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Optimized for emergency nurses facing chaotic waiting rooms and surges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Immediate identification of resuscitation cases within 15 seconds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Automated bed assignment and priority routing directly to trauma bays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EA5E9"/>
                </a:solidFill>
                <a:latin typeface="Segoe UI"/>
              </a:rPr>
              <a:t>Protocol: Standardized ESI Levels 1 to 5 Sorting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369A1"/>
                </a:solidFill>
                <a:latin typeface="Segoe UI"/>
              </a:rPr>
              <a:t>High-Density Vital Intake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Streamlined bedside data entry modal capturing SBP/DBP, Pulse, SpO2, Resp Rate, and Temp with instant auto-scoring.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Complete vital signs entered and validated in under 5 seconds cleanly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Auto-computes deterministic NEWS2 score dynamically with color alerts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Validates input ranges to prevent clerical typographical errors during entry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EA5E9"/>
                </a:solidFill>
                <a:latin typeface="Segoe UI"/>
              </a:rPr>
              <a:t>Intake: &lt; 5s Rapid Bedside Vital Entry Modal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369A1"/>
                </a:solidFill>
                <a:latin typeface="Segoe UI"/>
              </a:rPr>
              <a:t>Sub-Second Doctor Escalation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Single-tap bedside panic escalation pushes priority audible and visual alarms directly to the attending cardiologist's workstation.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Bypasses phone delays by delivering instant WebSocket notifications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Presents attending physician with incoming patient snapshot and vitals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Cuts average code blue response and resuscitation initiation times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0EA5E9"/>
                </a:solidFill>
                <a:latin typeface="Segoe UI"/>
              </a:rPr>
              <a:t>Response: Sub-Second WebSocket Doctor Paging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EA5E9"/>
                </a:solidFill>
                <a:latin typeface="Segoe UI"/>
              </a:rPr>
              <a:t>ESI 1 - 5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369A1"/>
                </a:solidFill>
                <a:latin typeface="Segoe UI"/>
              </a:rPr>
              <a:t>Triage Acuity Protocol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Emergency Severity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EA5E9"/>
                </a:solidFill>
                <a:latin typeface="Segoe UI"/>
              </a:rPr>
              <a:t>&lt; 5 sec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369A1"/>
                </a:solidFill>
                <a:latin typeface="Segoe UI"/>
              </a:rPr>
              <a:t>Vitals Entry Time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Streamlined Ergonomic Interface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EA5E9"/>
                </a:solidFill>
                <a:latin typeface="Segoe UI"/>
              </a:rPr>
              <a:t>Sub-sec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369A1"/>
                </a:solidFill>
                <a:latin typeface="Segoe UI"/>
              </a:rPr>
              <a:t>Doctor Alerting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Instant WebSocket Bay Escalation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EA5E9"/>
                </a:solidFill>
                <a:latin typeface="Segoe UI"/>
              </a:rPr>
              <a:t>NEWS2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369A1"/>
                </a:solidFill>
                <a:latin typeface="Segoe UI"/>
              </a:rPr>
              <a:t>Deterioration Scoring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Automated Early Warning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15803D"/>
                </a:solidFill>
                <a:latin typeface="Segoe UI"/>
              </a:rPr>
              <a:t>SLIDE 09 / 11  •  PATIENT &amp; FAMILY HEALTH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14532D"/>
                </a:solidFill>
                <a:latin typeface="Segoe UI"/>
              </a:rPr>
              <a:t>Patient &amp; Family Health Portal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5803D"/>
                </a:solidFill>
                <a:latin typeface="Segoe UI"/>
              </a:rPr>
              <a:t>Transparent Personal Health Intelligence and Care Adherence (/user)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Engaging patients in their own recovery through accessible telemetry trends, plain-language risk cards, and daily care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15803D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14532D"/>
                </a:solidFill>
                <a:latin typeface="Segoe UI"/>
              </a:rPr>
              <a:t>7-Day Longitudinal Telemetry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Patient-friendly visual telemetry curves displaying blood pressure and heart rate trends plotted against clinical target baselines.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Fluid 120 FPS SVG charts show progress toward target blood pressure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Visual highlights celebrate periods of stable vital control and adherence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Accessible from mobile, tablet, or desktop with zero-lag rendering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16A34A"/>
                </a:solidFill>
                <a:latin typeface="Segoe UI"/>
              </a:rPr>
              <a:t>Telemetry: 120 FPS 7-Day Longitudinal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15803D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14532D"/>
                </a:solidFill>
                <a:latin typeface="Segoe UI"/>
              </a:rPr>
              <a:t>Plain-Language AI Summaries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Demystifies clinical risk calculations by translating TreeSHAP attributions into reassuring, plain-language health explanations.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Replaces intimidating medical jargon with understandable guidance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Explains how daily hydration, salt reduction, and meds lower cardiac load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Empowers patients and family caregivers to actively participate in care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16A34A"/>
                </a:solidFill>
                <a:latin typeface="Segoe UI"/>
              </a:rPr>
              <a:t>Empowerment: Plain-Language AI Translations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15803D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14532D"/>
                </a:solidFill>
                <a:latin typeface="Segoe UI"/>
              </a:rPr>
              <a:t>Care Adherence &amp; Telehealth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Comprehensive daily health checklist combining scheduled medication reminders, morning vital checks, and telehealth consults.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Tracks medication compliance and alerts care team if doses are missed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One-touch launch for encrypted, HIPAA-compliant video consults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Enables seamless FHIR/CCDA electronic health record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16A34A"/>
                </a:solidFill>
                <a:latin typeface="Segoe UI"/>
              </a:rPr>
              <a:t>Engagement: Care Tasks &amp; Telehealth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Segoe UI"/>
              </a:rPr>
              <a:t>120 FPS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4532D"/>
                </a:solidFill>
                <a:latin typeface="Segoe UI"/>
              </a:rPr>
              <a:t>SVG Vital Curves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Smooth Responsive Client Rendering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Segoe UI"/>
              </a:rPr>
              <a:t>7-Day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4532D"/>
                </a:solidFill>
                <a:latin typeface="Segoe UI"/>
              </a:rPr>
              <a:t>Trend History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Continuous Longitudinal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Segoe UI"/>
              </a:rPr>
              <a:t>HIPAA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4532D"/>
                </a:solidFill>
                <a:latin typeface="Segoe UI"/>
              </a:rPr>
              <a:t>Privacy Directives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Granular Patient Consent Controls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Segoe UI"/>
              </a:rPr>
              <a:t>FHIR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14532D"/>
                </a:solidFill>
                <a:latin typeface="Segoe UI"/>
              </a:rPr>
              <a:t>Data Portability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Standardized Clinical Record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7E22CE"/>
                </a:solidFill>
                <a:latin typeface="Segoe UI"/>
              </a:rPr>
              <a:t>SLIDE 10 / 11  •  MEDICAL INFORMATICS &amp;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581C87"/>
                </a:solidFill>
                <a:latin typeface="Segoe UI"/>
              </a:rPr>
              <a:t>Medical Informatics &amp; MLOps Governance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7E22CE"/>
                </a:solidFill>
                <a:latin typeface="Segoe UI"/>
              </a:rPr>
              <a:t>Champion/Challenger Registry, Covariate Drift Surveillance, and Quality Auditing (/informaticist)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Empowering hospital data scientists and compliance officers to audit AI models and monitor population data shifts.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7E22CE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Champion / Challenger Registry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Rigorous model governance framework preventing premature deployments and requiring statistical validation before replacement.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Candidate models run in shadow mode alongside champion on active streams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Promotion requires superior ROC-AUC, PR-AUC, and calibration across cohorts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Complete version rollback capability ensures zero hospital downtime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9333EA"/>
                </a:solidFill>
                <a:latin typeface="Segoe UI"/>
              </a:rPr>
              <a:t>Governance: Shadow Mode Champion/Challenger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7E22CE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Continuous Drift Surveillance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Automated background monitoring of input distributions using Population Stability Index (PSI) and Kolmogorov-Smirnov tests.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Flags sensor recalibration errors, seasonal health shifts, or drift early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Triggers automated retraining alert if feature PSI exceeds 0.10 limit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Requires human ML engineer sign-off before retraining weights are saved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9333EA"/>
                </a:solidFill>
                <a:latin typeface="Segoe UI"/>
              </a:rPr>
              <a:t>Surveillance: Population Stability Index (PSI)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7E22CE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Clinical Studio &amp; NocoDB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Segoe UI"/>
              </a:rPr>
              <a:t>Spreadsheet-style exploratory studio enabling non-SQL clinical queries across millions of telemetry rows with HIPAA obfuscation.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Allows medical directors to query cohort trends, false positives, and overrides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Automated de-identification filters strip patient names, MRNs, and DOBs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Generates regulatory compliance dossiers aligned with FDA Class II SaMD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9333EA"/>
                </a:solidFill>
                <a:latin typeface="Segoe UI"/>
              </a:rPr>
              <a:t>Auditing: NocoDB Clinical Studio &amp; FDA Dossiers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9333EA"/>
                </a:solidFill>
                <a:latin typeface="Segoe UI"/>
              </a:rPr>
              <a:t>PSI &lt; 0.1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581C87"/>
                </a:solidFill>
                <a:latin typeface="Segoe UI"/>
              </a:rPr>
              <a:t>Drift Safety Limit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Population Stability Index Benchmark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9333EA"/>
                </a:solidFill>
                <a:latin typeface="Segoe UI"/>
              </a:rPr>
              <a:t>KS-Test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581C87"/>
                </a:solidFill>
                <a:latin typeface="Segoe UI"/>
              </a:rPr>
              <a:t>Two-Sample Metric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Distribution Divergence Surveillance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9333EA"/>
                </a:solidFill>
                <a:latin typeface="Segoe UI"/>
              </a:rPr>
              <a:t>NocoDB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581C87"/>
                </a:solidFill>
                <a:latin typeface="Segoe UI"/>
              </a:rPr>
              <a:t>Clinical Studio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Spreadsheet Exploratory Interface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9333EA"/>
                </a:solidFill>
                <a:latin typeface="Segoe UI"/>
              </a:rPr>
              <a:t>Class II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581C87"/>
                </a:solidFill>
                <a:latin typeface="Segoe UI"/>
              </a:rPr>
              <a:t>SaMD Regulatory Dossier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FDA Aligned Quality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329184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334155"/>
                </a:solidFill>
                <a:latin typeface="Segoe UI"/>
              </a:rPr>
              <a:t>SLIDE 11 / 11  •  IT INFRASTRUCTURE &amp;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Segoe UI"/>
              </a:rPr>
              <a:t>IT Infrastructure, Cybersecurity &amp; Deployment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334155"/>
                </a:solidFill>
                <a:latin typeface="Segoe UI"/>
              </a:rPr>
              <a:t>Enterprise Zero-Trust RBAC, Cloud Scalability, and Production Verification (/admin)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Hardened platform operations ensuring high availability, sub-millisecond response times, and multi-cloud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334155"/>
                </a:solidFill>
                <a:latin typeface="Segoe UI"/>
              </a:rPr>
              <a:t>KEY CAPABILITY 01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Zero-Trust RBAC Security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0F172A"/>
                </a:solidFill>
                <a:latin typeface="Segoe UI"/>
              </a:rPr>
              <a:t>Strict role-based access control enforcing least-privilege boundaries across PATIENT, NURSE, DOCTOR, INFORMATICIST, and ADMIN.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Mandatory multi-factor authentication (MFA) and cryptographic token rotation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Audit trail logs every endpoint request, clinician override, and data access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Context minimization guarantees zero patient PHI leakage into 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242816"/>
            <a:ext cx="3328416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475569"/>
                </a:solidFill>
                <a:latin typeface="Segoe UI"/>
              </a:rPr>
              <a:t>Cybersecurity: Zero-Trust RBAC &amp; Session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470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334155"/>
                </a:solidFill>
                <a:latin typeface="Segoe UI"/>
              </a:rPr>
              <a:t>KEY CAPABILITY 02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High-Availability Cloud Stack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0F172A"/>
                </a:solidFill>
                <a:latin typeface="Segoe UI"/>
              </a:rPr>
              <a:t>Resilient serverless infrastructure combining Neon PostgreSQL connection pooling, Redis 7 caching, and Daphne ASGI workers.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Redis caching achieves &gt;98% hit rate for frequent patient telemetry queries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Asynchronous Daphne server handles thousands of concurrent WebSockets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Neon autoscaling seamlessly adapts to sudden hospital surge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182" y="4242816"/>
            <a:ext cx="3328416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475569"/>
                </a:solidFill>
                <a:latin typeface="Segoe UI"/>
              </a:rPr>
              <a:t>Infrastructure: Neon Postgres • Redis 7 • Celery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1911096"/>
            <a:ext cx="3291840" cy="2313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334155"/>
                </a:solidFill>
                <a:latin typeface="Segoe UI"/>
              </a:rPr>
              <a:t>KEY CAPABILITY 03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Production Vercel Deployment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0F172A"/>
                </a:solidFill>
                <a:latin typeface="Segoe UI"/>
              </a:rPr>
              <a:t>Continuous deployment on Vercel with 30/30 automated unit test suites passing in under 250ms with zero runtime warnings.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173 static and dynamic routes compiled cleanly with Next.js Turbopack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Automated CI/CD pipelines enforce React Doctor standards and PEP 8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•  Zero build errors, zero broken links, and 100% WCAG 2.1 AA accessibility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4242816"/>
            <a:ext cx="3328416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/>
            <a:r>
              <a:rPr sz="819" b="1">
                <a:solidFill>
                  <a:srgbClr val="475569"/>
                </a:solidFill>
                <a:latin typeface="Segoe UI"/>
              </a:rPr>
              <a:t>Verification: 30/30 Test Suites Passed • Next.js 16.3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36592"/>
            <a:ext cx="2660904" cy="5486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475569"/>
                </a:solidFill>
                <a:latin typeface="Segoe UI"/>
              </a:rPr>
              <a:t>30 / 30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Unit Tests Passed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Sub-250ms Test Suite Execution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4736592"/>
            <a:ext cx="2660904" cy="5486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475569"/>
                </a:solidFill>
                <a:latin typeface="Segoe UI"/>
              </a:rPr>
              <a:t>98%+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Redis Cache Hit Rate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High-Throughput Telemetry Retrieval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4736592"/>
            <a:ext cx="2660904" cy="5486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475569"/>
                </a:solidFill>
                <a:latin typeface="Segoe UI"/>
              </a:rPr>
              <a:t>Zero-Trust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RBAC Protection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5 Role-Separated Clinical Gates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736592"/>
            <a:ext cx="2660904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848" y="4736592"/>
            <a:ext cx="2660904" cy="5486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4882896"/>
            <a:ext cx="2441448" cy="131673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475569"/>
                </a:solidFill>
                <a:latin typeface="Segoe UI"/>
              </a:rPr>
              <a:t>Vercel &amp; Neon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Production Cloud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64748B"/>
                </a:solidFill>
                <a:latin typeface="Segoe UI"/>
              </a:rPr>
              <a:t>Continuous Deployment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