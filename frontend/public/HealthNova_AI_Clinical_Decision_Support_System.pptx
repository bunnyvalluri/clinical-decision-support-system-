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1E3A8A"/>
                </a:solidFill>
                <a:latin typeface="Segoe UI"/>
              </a:rPr>
              <a:t>SLIDE 01 / 11  •  EXECUTIVE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75569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0F172A"/>
                </a:solidFill>
                <a:latin typeface="Segoe UI"/>
              </a:rPr>
              <a:t>HealthNova AI: Clinical Decision Support System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1E3A8A"/>
                </a:solidFill>
                <a:latin typeface="Segoe UI"/>
              </a:rPr>
              <a:t>AI-Powered Patient Risk Stratification, TreeSHAP Explainability, and Real-Time Ward Telemetry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Segoe UI"/>
              </a:rPr>
              <a:t>Academic Research Project BPY-CSE-2666 | Advancing Clinical Decision Support Systems (CDSS) Through Machine Learning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F172A"/>
                </a:solidFill>
                <a:latin typeface="Segoe UI"/>
              </a:rPr>
              <a:t>Clinical Purpose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  <a:latin typeface="Segoe UI"/>
              </a:rPr>
              <a:t>Empowering cardiologists, triage nurses, and ICU teams with real-time multi-class risk predictions, reducing missed acute cardiac events to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F172A"/>
                </a:solidFill>
                <a:latin typeface="Segoe UI"/>
              </a:rPr>
              <a:t>Core Innovation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  <a:latin typeface="Segoe UI"/>
              </a:rPr>
              <a:t>Combining sub-millisecond calibrated ML inference (0.136ms) with transparent local TreeSHAP factor attributions and sovereign clinician overrides.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F172A"/>
                </a:solidFill>
                <a:latin typeface="Segoe UI"/>
              </a:rPr>
              <a:t>Regulatory &amp; Standards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  <a:latin typeface="Segoe UI"/>
              </a:rPr>
              <a:t>Aligned with FDA SaMD Class II principles, 21 CFR Part 11 audit trails, HIPAA § 164.312 safeguards, and zero-PHI context minimization.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284C7"/>
                </a:solidFill>
                <a:latin typeface="Segoe UI"/>
              </a:rPr>
              <a:t>0.985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475569"/>
                </a:solidFill>
                <a:latin typeface="Segoe UI"/>
              </a:rPr>
              <a:t>ROC-AUC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284C7"/>
                </a:solidFill>
                <a:latin typeface="Segoe UI"/>
              </a:rPr>
              <a:t>0.0027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475569"/>
                </a:solidFill>
                <a:latin typeface="Segoe UI"/>
              </a:rPr>
              <a:t>Calibrated Brier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284C7"/>
                </a:solidFill>
                <a:latin typeface="Segoe UI"/>
              </a:rPr>
              <a:t>100%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475569"/>
                </a:solidFill>
                <a:latin typeface="Segoe UI"/>
              </a:rPr>
              <a:t>Acute Recall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284C7"/>
                </a:solidFill>
                <a:latin typeface="Segoe UI"/>
              </a:rPr>
              <a:t>0.136ms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475569"/>
                </a:solidFill>
                <a:latin typeface="Segoe UI"/>
              </a:rPr>
              <a:t>Inference Latency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475569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BE123C"/>
                </a:solidFill>
                <a:latin typeface="Segoe UI"/>
              </a:rPr>
              <a:t>SLIDE 02 / 11  •  CLINICAL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9F1239"/>
                </a:solidFill>
                <a:latin typeface="Segoe UI"/>
              </a:rPr>
              <a:t>Clinical Problem Statement &amp; Unmet Need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BE123C"/>
                </a:solidFill>
                <a:latin typeface="Segoe UI"/>
              </a:rPr>
              <a:t>Overcoming the Limitations of Traditional Scoring in High-Acuity Hospital Wards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Cardiovascular diseases cause 17.9M deaths annually. In ED and ICU wards, clinicians face cognitive overload and rigid cutoffs.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BE123C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9F1239"/>
                </a:solidFill>
                <a:latin typeface="Segoe UI"/>
              </a:rPr>
              <a:t>Static Scoring Failure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Tools like Framingham and TIMI rely on coarse linear heuristics, lack real-time reactivity during active patient hospitalization, and ignore dynamic vitals.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BE123C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9F1239"/>
                </a:solidFill>
                <a:latin typeface="Segoe UI"/>
              </a:rPr>
              <a:t>Alert Fatigue &amp; Black-Box AI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Typical EHR alarms suffer from 80%+ false positive rates. Deep neural networks provide 'black-box' outputs that clinicians cannot safely trust bedside.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BE123C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9F1239"/>
                </a:solidFill>
                <a:latin typeface="Segoe UI"/>
              </a:rPr>
              <a:t>The HealthNova Solution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A continuous, calibrated multi-class model (Low, Med, High, Crit) that exposes exact mathematical reasons (TreeSHAP) behind every risk score.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Segoe UI"/>
              </a:rPr>
              <a:t>17.9M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Annual CVD Deaths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Segoe UI"/>
              </a:rPr>
              <a:t>85%+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ICU Alarm Fatigue Rate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Segoe UI"/>
              </a:rPr>
              <a:t>4 Tiers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Dynamic Risk Levels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Segoe UI"/>
              </a:rPr>
              <a:t>0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Autonomous AI Prescriptions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4338CA"/>
                </a:solidFill>
                <a:latin typeface="Segoe UI"/>
              </a:rPr>
              <a:t>SLIDE 03 / 11  •  SYSTEM ARCHITECTURE &amp; DUAL-STACK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312E81"/>
                </a:solidFill>
                <a:latin typeface="Segoe UI"/>
              </a:rPr>
              <a:t>System Architecture &amp; Dual-Stack Foundation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4338CA"/>
                </a:solidFill>
                <a:latin typeface="Segoe UI"/>
              </a:rPr>
              <a:t>Decoupled Modern Architecture for Ultra-Low Latency Telemetry and High Reliability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A resilient hybrid stack combining Python Django ASGI backend services with Next.js 16.3 React 19 frontend workspaces.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4338CA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312E81"/>
                </a:solidFill>
                <a:latin typeface="Segoe UI"/>
              </a:rPr>
              <a:t>Backend Services (Python/Django)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Django 5.0.14 running on Daphne ASGI + Redis 7 Pub/Sub. Celery 5.4 distributed workers process batch inference and automated retraining.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4338CA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312E81"/>
                </a:solidFill>
                <a:latin typeface="Segoe UI"/>
              </a:rPr>
              <a:t>Authoritative Data (Neon PostgreSQL)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Neon Lakebase PostgreSQL 16 is the sole source of truth with instant branching, pgvector embeddings, and zero patient PHI in shared indices.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4338CA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312E81"/>
                </a:solidFill>
                <a:latin typeface="Segoe UI"/>
              </a:rPr>
              <a:t>Frontend Workspaces (Next.js / Turbopack)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173 prerendered &amp; dynamic clinical routes built with Tailwind CSS, SVG telemetry engines (120 FPS), and resilient WebSocket client sync.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6366F1"/>
                </a:solidFill>
                <a:latin typeface="Segoe UI"/>
              </a:rPr>
              <a:t>173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App Routes Compiled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6366F1"/>
                </a:solidFill>
                <a:latin typeface="Segoe UI"/>
              </a:rPr>
              <a:t>&lt; 20ms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WebSocket Sync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6366F1"/>
                </a:solidFill>
                <a:latin typeface="Segoe UI"/>
              </a:rPr>
              <a:t>Zero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Shared PHI Vectors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6366F1"/>
                </a:solidFill>
                <a:latin typeface="Segoe UI"/>
              </a:rPr>
              <a:t>100%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Pure Light Theme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047857"/>
                </a:solidFill>
                <a:latin typeface="Segoe UI"/>
              </a:rPr>
              <a:t>SLIDE 04 / 11  •  MACHINE LEARNING &amp;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064E3B"/>
                </a:solidFill>
                <a:latin typeface="Segoe UI"/>
              </a:rPr>
              <a:t>Machine Learning Pipeline &amp; Champion Model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047857"/>
                </a:solidFill>
                <a:latin typeface="Segoe UI"/>
              </a:rPr>
              <a:t>Rigorous Evaluation, Isotonic Calibration, and Sub-Millisecond Inference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Evaluated against standard clinical cohorts with multi-class Platt/Isotonic calibration to prevent overconfident misclassifications.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47857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64E3B"/>
                </a:solidFill>
                <a:latin typeface="Segoe UI"/>
              </a:rPr>
              <a:t>Champion Model Selection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Random Forest with 150 calibrated estimators outperforms AdaBoost and SVM across all discrimination and calibration benchmarks.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47857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64E3B"/>
                </a:solidFill>
                <a:latin typeface="Segoe UI"/>
              </a:rPr>
              <a:t>Probabilistic Calibration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Brier score of 0.0027 and Expected Calibration Error (ECE) of 0.012 guarantee that a 70% prediction represents exactly a 7-in-10 clinical risk.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47857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64E3B"/>
                </a:solidFill>
                <a:latin typeface="Segoe UI"/>
              </a:rPr>
              <a:t>Sub-Millisecond Inference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Scikit-Learn runtime optimized for 0.136ms CPU execution, allowing continuous real-time recalculation as patient telemetry shifts.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59669"/>
                </a:solidFill>
                <a:latin typeface="Segoe UI"/>
              </a:rPr>
              <a:t>0.985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Champion 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59669"/>
                </a:solidFill>
                <a:latin typeface="Segoe UI"/>
              </a:rPr>
              <a:t>0.981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Precision-Recall AUC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59669"/>
                </a:solidFill>
                <a:latin typeface="Segoe UI"/>
              </a:rPr>
              <a:t>0.0027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Brier Score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59669"/>
                </a:solidFill>
                <a:latin typeface="Segoe UI"/>
              </a:rPr>
              <a:t>150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Decision Trees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0F766E"/>
                </a:solidFill>
                <a:latin typeface="Segoe UI"/>
              </a:rPr>
              <a:t>SLIDE 05 / 11  •  EXPLAINABLE AI (XAI) &amp; TREESHAP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134E4A"/>
                </a:solidFill>
                <a:latin typeface="Segoe UI"/>
              </a:rPr>
              <a:t>Explainable AI (XAI) &amp; TreeSHAP Attribution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0F766E"/>
                </a:solidFill>
                <a:latin typeface="Segoe UI"/>
              </a:rPr>
              <a:t>Deconstructing Risk Scores into Quantifiable Biomarker Drivers for Every Patient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Eliminating AI skepticism by translating complex ensemble tree splits into clear positive risk contributors and protective markers.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F766E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34E4A"/>
                </a:solidFill>
                <a:latin typeface="Segoe UI"/>
              </a:rPr>
              <a:t>Mathematical TreeSHAP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Computes exact Shapley values from game theory across all decision trees relative to baseline expected risk (E[f(x)] = 0.350).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F766E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34E4A"/>
                </a:solidFill>
                <a:latin typeface="Segoe UI"/>
              </a:rPr>
              <a:t>Positive &amp; Protective Drivers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Features like ST Depression (+26%) and Lactic Acid (+18%) push risk up; normal Serum Potassium (-8%) acts as a protective stabilizer.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F766E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34E4A"/>
                </a:solidFill>
                <a:latin typeface="Segoe UI"/>
              </a:rPr>
              <a:t>Natural Language Synthesis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Automated SBAR bedside summaries generated for attending physicians, highlighting actionable targets for immediate clinical focus.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Segoe UI"/>
              </a:rPr>
              <a:t>0.350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Baseline E[f(x)]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Segoe UI"/>
              </a:rPr>
              <a:t>14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Clinical Features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Segoe UI"/>
              </a:rPr>
              <a:t>100%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Deterministic Explanations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D9488"/>
                </a:solidFill>
                <a:latin typeface="Segoe UI"/>
              </a:rPr>
              <a:t>SBAR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Handover Export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B45309"/>
                </a:solidFill>
                <a:latin typeface="Segoe UI"/>
              </a:rPr>
              <a:t>SLIDE 06 / 11  •  SAFETY PROTOCOLS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78350F"/>
                </a:solidFill>
                <a:latin typeface="Segoe UI"/>
              </a:rPr>
              <a:t>Deterministic Safety &amp; Algorithmic Guardrails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B45309"/>
                </a:solidFill>
                <a:latin typeface="Segoe UI"/>
              </a:rPr>
              <a:t>Fail-Safe Clinical Invariants and Uncertainty-Based Abstention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AI never supersedes licensed clinicians. Multi-agent validation intercepts dangerous inferences before they reach the bedside.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B45309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78350F"/>
                </a:solidFill>
                <a:latin typeface="Segoe UI"/>
              </a:rPr>
              <a:t>Deterministic Overrides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Hardcoded rules trigger immediate CRITICAL escalation regardless of ML outputs if qSOFA &gt;= 2, NEWS2 &gt;= 5, or SBP &gt; 180 mmHg.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B45309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78350F"/>
                </a:solidFill>
                <a:latin typeface="Segoe UI"/>
              </a:rPr>
              <a:t>Uncertainty Abstention Gate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When Shannon entropy H exceeds 0.79, the model abstains: 'Prediction requires additional review — high epistemic uncertainty'.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B45309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78350F"/>
                </a:solidFill>
                <a:latin typeface="Segoe UI"/>
              </a:rPr>
              <a:t>Prompt Injection Defense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Dual semantic and regex safety scanners block prompt extraction, adversarial jailbreaks, and unauthorized external data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D97706"/>
                </a:solidFill>
                <a:latin typeface="Segoe UI"/>
              </a:rPr>
              <a:t>H &gt;= 0.79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Abstention Threshold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D97706"/>
                </a:solidFill>
                <a:latin typeface="Segoe UI"/>
              </a:rPr>
              <a:t>qSOFA &amp; NEWS2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Deterministic Safety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D97706"/>
                </a:solidFill>
                <a:latin typeface="Segoe UI"/>
              </a:rPr>
              <a:t>100%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Human-in-the-Loop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D97706"/>
                </a:solidFill>
                <a:latin typeface="Segoe UI"/>
              </a:rPr>
              <a:t>21 CFR 11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Audit Traceability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0284C7"/>
                </a:solidFill>
                <a:latin typeface="Segoe UI"/>
              </a:rPr>
              <a:t>SLIDE 07 / 11  •  ATTENDING PHYSICIAN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0C4A6E"/>
                </a:solidFill>
                <a:latin typeface="Segoe UI"/>
              </a:rPr>
              <a:t>Attending Physician &amp; Cardiologist Workspace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0284C7"/>
                </a:solidFill>
                <a:latin typeface="Segoe UI"/>
              </a:rPr>
              <a:t>Authoritative Clinical Decision Center with Sovereign Overrides (/doctor)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Designed for hospital cardiologists to manage ICU wards, review high-acuity cases, and sign off on clinical directives.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284C7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C4A6E"/>
                </a:solidFill>
                <a:latin typeface="Segoe UI"/>
              </a:rPr>
              <a:t>ICU Bedside Telemetry HUD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Real-time cards show patient beds, calibrated risk tiers, 95% confidence intervals, and immediate TreeSHAP attribution waterfalls.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284C7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C4A6E"/>
                </a:solidFill>
                <a:latin typeface="Segoe UI"/>
              </a:rPr>
              <a:t>Mandatory Review Queue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High and Critical risk cases are quarantined in a dedicated queue requiring physician action before directives can be finalized.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284C7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C4A6E"/>
                </a:solidFill>
                <a:latin typeface="Segoe UI"/>
              </a:rPr>
              <a:t>Sovereign Clinical Overrides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Doctors can Concur, Override with mandatory clinical rationale, or Request STAT repeat labs with 21 CFR Part 11 digital signatures.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369A1"/>
                </a:solidFill>
                <a:latin typeface="Segoe UI"/>
              </a:rPr>
              <a:t>3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Review Queue Gates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369A1"/>
                </a:solidFill>
                <a:latin typeface="Segoe UI"/>
              </a:rPr>
              <a:t>95% CI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Confidence Bounds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369A1"/>
                </a:solidFill>
                <a:latin typeface="Segoe UI"/>
              </a:rPr>
              <a:t>1-Click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Sovereign Override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369A1"/>
                </a:solidFill>
                <a:latin typeface="Segoe UI"/>
              </a:rPr>
              <a:t>SHA-256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Signature Hash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0284C7"/>
                </a:solidFill>
                <a:latin typeface="Segoe UI"/>
              </a:rPr>
              <a:t>SLIDE 08 / 11  •  EMERGENCY TRIAGE NURSE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0369A1"/>
                </a:solidFill>
                <a:latin typeface="Segoe UI"/>
              </a:rPr>
              <a:t>Emergency Triage Nurse Workspace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0284C7"/>
                </a:solidFill>
                <a:latin typeface="Segoe UI"/>
              </a:rPr>
              <a:t>Frontline Bedside Intake, ESI Scoring, and Deterioration Alarms (/nurse)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Optimized for emergency department nurses requiring high-speed vital sign entry and instant physician 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284C7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369A1"/>
                </a:solidFill>
                <a:latin typeface="Segoe UI"/>
              </a:rPr>
              <a:t>Rapid ESI Triage Intake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Standardized Emergency Severity Index (ESI Levels 1 to 5) sorting incoming arrivals based on acute physiological stability.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284C7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369A1"/>
                </a:solidFill>
                <a:latin typeface="Segoe UI"/>
              </a:rPr>
              <a:t>Bedside Vital Sign Entry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High-density intake modal for SBP/DBP, Heart Rate, Respiratory Rate, SpO2, and Temp with instant NEWS2 score computation.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0284C7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369A1"/>
                </a:solidFill>
                <a:latin typeface="Segoe UI"/>
              </a:rPr>
              <a:t>Sub-Second Doctor Escalation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One-touch bedside escalation pushes priority alarms to the attending cardiologist's workstation via real-time WebSockets.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EA5E9"/>
                </a:solidFill>
                <a:latin typeface="Segoe UI"/>
              </a:rPr>
              <a:t>ESI 1 - 5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Triage Acuity Levels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EA5E9"/>
                </a:solidFill>
                <a:latin typeface="Segoe UI"/>
              </a:rPr>
              <a:t>&lt; 5 sec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Vitals Entry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EA5E9"/>
                </a:solidFill>
                <a:latin typeface="Segoe UI"/>
              </a:rPr>
              <a:t>Sub-second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Physician Paging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0EA5E9"/>
                </a:solidFill>
                <a:latin typeface="Segoe UI"/>
              </a:rPr>
              <a:t>NEWS2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Early Deterioration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15803D"/>
                </a:solidFill>
                <a:latin typeface="Segoe UI"/>
              </a:rPr>
              <a:t>SLIDE 09 / 11  •  PATIENT &amp; FAMILY HEALTH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14532D"/>
                </a:solidFill>
                <a:latin typeface="Segoe UI"/>
              </a:rPr>
              <a:t>Patient &amp; Family Health Portal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15803D"/>
                </a:solidFill>
                <a:latin typeface="Segoe UI"/>
              </a:rPr>
              <a:t>Transparent Personal Health Intelligence and Care Adherence (/user)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Engaging patients in their own recovery through accessible telemetry trends, plain-language risk cards, and daily care tasks.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15803D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4532D"/>
                </a:solidFill>
                <a:latin typeface="Segoe UI"/>
              </a:rPr>
              <a:t>Interactive 7-Day Telemetry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Lightweight SVG telemetry curves show blood pressure and pulse trends against healthy clinical baseline targets (120/80 mmHg).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15803D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4532D"/>
                </a:solidFill>
                <a:latin typeface="Segoe UI"/>
              </a:rPr>
              <a:t>Plain-Language AI Cards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Demystifies risk scores by translating TreeSHAP attributions into understandable language without triggering unnecessary panic.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15803D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4532D"/>
                </a:solidFill>
                <a:latin typeface="Segoe UI"/>
              </a:rPr>
              <a:t>Care Tasks &amp; Appointments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Adherence checklist for prescribed medications, daily morning vitals checks, and 1-click launch for encrypted telehealth consults.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16A34A"/>
                </a:solidFill>
                <a:latin typeface="Segoe UI"/>
              </a:rPr>
              <a:t>120 FPS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Zero-Lag SVG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16A34A"/>
                </a:solidFill>
                <a:latin typeface="Segoe UI"/>
              </a:rPr>
              <a:t>7-Day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Longitudinal Trends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16A34A"/>
                </a:solidFill>
                <a:latin typeface="Segoe UI"/>
              </a:rPr>
              <a:t>HIPAA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Consent Directives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16A34A"/>
                </a:solidFill>
                <a:latin typeface="Segoe UI"/>
              </a:rPr>
              <a:t>FHIR / CCDA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Data Portability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7E22CE"/>
                </a:solidFill>
                <a:latin typeface="Segoe UI"/>
              </a:rPr>
              <a:t>SLIDE 10 / 11  •  MEDICAL INFORMATICS &amp; MLOPS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581C87"/>
                </a:solidFill>
                <a:latin typeface="Segoe UI"/>
              </a:rPr>
              <a:t>Medical Informatics &amp; MLOps Governance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7E22CE"/>
                </a:solidFill>
                <a:latin typeface="Segoe UI"/>
              </a:rPr>
              <a:t>Champion/Challenger Registry, Covariate Drift Surveillance, and Quality Auditing (/informaticist)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Empowering hospital data scientists and compliance officers to audit AI models and monitor population data shifts.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7E22CE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581C87"/>
                </a:solidFill>
                <a:latin typeface="Segoe UI"/>
              </a:rPr>
              <a:t>Champion / Challenger Registry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A candidate model can only dethrone the active champion after rigorous statistical validation on out-of-distribution clinical cohorts.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7E22CE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581C87"/>
                </a:solidFill>
                <a:latin typeface="Segoe UI"/>
              </a:rPr>
              <a:t>Continuous Drift Surveillance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Automated Population Stability Index (PSI) and Kolmogorov-Smirnov (KS) testing flag sensor or population shifts before degradation.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7E22CE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581C87"/>
                </a:solidFill>
                <a:latin typeface="Segoe UI"/>
              </a:rPr>
              <a:t>Data Quality &amp; NocoDB Studio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1E293B"/>
                </a:solidFill>
                <a:latin typeface="Segoe UI"/>
              </a:rPr>
              <a:t>Spreadsheet-style NocoDB interface allows non-SQL exploratory analysis of millions of ward telemetry rows with HIPAA filters.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9333EA"/>
                </a:solidFill>
                <a:latin typeface="Segoe UI"/>
              </a:rPr>
              <a:t>PSI &lt; 0.1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Normal Drift Range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9333EA"/>
                </a:solidFill>
                <a:latin typeface="Segoe UI"/>
              </a:rPr>
              <a:t>KS-Test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Distribution 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9333EA"/>
                </a:solidFill>
                <a:latin typeface="Segoe UI"/>
              </a:rPr>
              <a:t>NocoDB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Clinical Data Studio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9333EA"/>
                </a:solidFill>
                <a:latin typeface="Segoe UI"/>
              </a:rPr>
              <a:t>FDA Class II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Regulatory Dossier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/>
          <a:lstStyle/>
          <a:p>
            <a:pPr algn="ctr"/>
            <a:r>
              <a:rPr sz="950" b="1">
                <a:solidFill>
                  <a:srgbClr val="334155"/>
                </a:solidFill>
                <a:latin typeface="Segoe UI"/>
              </a:rPr>
              <a:t>SLIDE 11 / 11  •  IT INFRASTRUCTURE &amp;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BPY-CSE-2666 • HealthNova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300" b="1">
                <a:solidFill>
                  <a:srgbClr val="0F172A"/>
                </a:solidFill>
                <a:latin typeface="Segoe UI"/>
              </a:rPr>
              <a:t>IT Infrastructure, Cybersecurity &amp; Deployment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334155"/>
                </a:solidFill>
                <a:latin typeface="Segoe UI"/>
              </a:rPr>
              <a:t>Enterprise Zero-Trust RBAC, Cloud Scalability, and Production Verification (/admin)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64748B"/>
                </a:solidFill>
                <a:latin typeface="Segoe UI"/>
              </a:rPr>
              <a:t>Hardened platform operations ensuring high availability, sub-millisecond response times, and multi-cloud resilience.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7315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334155"/>
                </a:solidFill>
                <a:latin typeface="Segoe UI"/>
              </a:rPr>
              <a:t>KEY COMPONENT 01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F172A"/>
                </a:solidFill>
                <a:latin typeface="Segoe UI"/>
              </a:rPr>
              <a:t>Zero-Trust RBAC Security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  <a:latin typeface="Segoe UI"/>
              </a:rPr>
              <a:t>Granular role-based access control protecting PATIENT, NURSE, DOCTOR, INFORMATICIST, and ADMIN boundaries with mandatory 2FA.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01568" cy="7315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334155"/>
                </a:solidFill>
                <a:latin typeface="Segoe UI"/>
              </a:rPr>
              <a:t>KEY COMPONENT 02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F172A"/>
                </a:solidFill>
                <a:latin typeface="Segoe UI"/>
              </a:rPr>
              <a:t>Cloud Infrastructure &amp; Caching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  <a:latin typeface="Segoe UI"/>
              </a:rPr>
              <a:t>Neon PostgreSQL connection pooling, Redis 7 in-memory cache (&gt;98% hit rate), Celery background queues, and Daphne ASGI.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148840"/>
            <a:ext cx="3401568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10144" y="2148840"/>
            <a:ext cx="3401568" cy="7315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2331720"/>
            <a:ext cx="3035808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50" b="1">
                <a:solidFill>
                  <a:srgbClr val="334155"/>
                </a:solidFill>
                <a:latin typeface="Segoe UI"/>
              </a:rPr>
              <a:t>KEY COMPONENT 03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0F172A"/>
                </a:solidFill>
                <a:latin typeface="Segoe UI"/>
              </a:rPr>
              <a:t>Vercel &amp; Live Verification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  <a:latin typeface="Segoe UI"/>
              </a:rPr>
              <a:t>Continuous production deployment on Vercel with 30/30 automated unit test suites passing in under 250ms with zero build errors.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475569"/>
                </a:solidFill>
                <a:latin typeface="Segoe UI"/>
              </a:rPr>
              <a:t>30 / 30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Passed Unit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2736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475569"/>
                </a:solidFill>
                <a:latin typeface="Segoe UI"/>
              </a:rPr>
              <a:t>98%+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Redis Cache Hit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475569"/>
                </a:solidFill>
                <a:latin typeface="Segoe UI"/>
              </a:rPr>
              <a:t>Zero-Trust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RBAC Enforcement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5074920"/>
            <a:ext cx="24963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5212080"/>
            <a:ext cx="2221992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ctr"/>
            <a:r>
              <a:rPr sz="2000" b="1">
                <a:solidFill>
                  <a:srgbClr val="475569"/>
                </a:solidFill>
                <a:latin typeface="Segoe UI"/>
              </a:rPr>
              <a:t>Vercel &amp; Neon</a:t>
            </a:r>
          </a:p>
          <a:p>
            <a:pPr algn="ctr">
              <a:spcBef>
                <a:spcPts val="200"/>
              </a:spcBef>
            </a:pPr>
            <a:r>
              <a:rPr sz="950" b="1">
                <a:solidFill>
                  <a:srgbClr val="64748B"/>
                </a:solidFill>
                <a:latin typeface="Segoe UI"/>
              </a:rPr>
              <a:t>Cloud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64748B"/>
                </a:solidFill>
                <a:latin typeface="Segoe UI"/>
              </a:rPr>
              <a:t>HealthNova AI • Assistive Intelligence Only • Human-in-the-Loop Clinician Sign-Off Mandated • 21 CFR Part 11 Aligned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