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8016"/>
            <a:ext cx="12191695" cy="36576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256032"/>
            <a:ext cx="11277295" cy="1188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256032"/>
            <a:ext cx="109728" cy="1188720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92608"/>
            <a:ext cx="10927080" cy="111556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ctr"/>
            <a:r>
              <a:rPr sz="2200" b="1">
                <a:solidFill>
                  <a:srgbClr val="0F172A"/>
                </a:solidFill>
                <a:latin typeface="Segoe UI"/>
              </a:rPr>
              <a:t>NARSIMHA REDDY ENGINEERING COLLEGE</a:t>
            </a:r>
          </a:p>
          <a:p>
            <a:pPr algn="ctr">
              <a:spcBef>
                <a:spcPts val="200"/>
              </a:spcBef>
            </a:pPr>
            <a:r>
              <a:rPr sz="900" b="1">
                <a:solidFill>
                  <a:srgbClr val="64748B"/>
                </a:solidFill>
                <a:latin typeface="Segoe UI"/>
              </a:rPr>
              <a:t>(UGC - AUTONOMOUS INSTITUTION  •  APPROVED BY AICTE, NEW DELHI  •  AFFILIATED TO JNTUH)</a:t>
            </a:r>
          </a:p>
          <a:p>
            <a:pPr algn="ctr">
              <a:spcBef>
                <a:spcPts val="300"/>
              </a:spcBef>
            </a:pPr>
            <a:r>
              <a:rPr sz="1300" b="1">
                <a:solidFill>
                  <a:srgbClr val="1E3A8A"/>
                </a:solidFill>
                <a:latin typeface="Segoe UI"/>
              </a:rPr>
              <a:t>DEPARTMENT OF COMPUTER SCIENCE AND ENGINEERING</a:t>
            </a:r>
          </a:p>
          <a:p>
            <a:pPr algn="ctr">
              <a:spcBef>
                <a:spcPts val="200"/>
              </a:spcBef>
            </a:pPr>
            <a:r>
              <a:rPr sz="900" b="1">
                <a:solidFill>
                  <a:srgbClr val="0284C7"/>
                </a:solidFill>
                <a:latin typeface="Segoe UI"/>
              </a:rPr>
              <a:t>MAJOR CAPSTONE PROJECT PRESENTATION  •  ACADEMIC YEAR 2026–2027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572768"/>
            <a:ext cx="11277295" cy="1965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57200" y="1572768"/>
            <a:ext cx="109728" cy="196596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645920"/>
            <a:ext cx="10744200" cy="18288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000" b="1">
                <a:solidFill>
                  <a:srgbClr val="0284C7"/>
                </a:solidFill>
                <a:latin typeface="Segoe UI"/>
              </a:rPr>
              <a:t>PROJECT CODE: BPY-CSE-2666  •  CLINICAL DECISION SUPPORT SYSTEM (CDSS)</a:t>
            </a:r>
          </a:p>
          <a:p>
            <a:pPr>
              <a:spcBef>
                <a:spcPts val="300"/>
              </a:spcBef>
            </a:pPr>
            <a:r>
              <a:rPr sz="2200" b="1">
                <a:solidFill>
                  <a:srgbClr val="0F172A"/>
                </a:solidFill>
                <a:latin typeface="Segoe UI"/>
              </a:rPr>
              <a:t>HealthNova AI: Patient Risk Level Prediction System</a:t>
            </a:r>
          </a:p>
          <a:p>
            <a:pPr>
              <a:spcBef>
                <a:spcPts val="300"/>
              </a:spcBef>
            </a:pPr>
            <a:r>
              <a:rPr sz="1200" b="1">
                <a:solidFill>
                  <a:srgbClr val="334155"/>
                </a:solidFill>
                <a:latin typeface="Segoe UI"/>
              </a:rPr>
              <a:t>Explainable Clinical Acuity Stratification with Multi-Class ML &amp; TreeSHAP Attribution</a:t>
            </a:r>
          </a:p>
          <a:p>
            <a:pPr>
              <a:spcBef>
                <a:spcPts val="500"/>
              </a:spcBef>
            </a:pPr>
            <a:r>
              <a:rPr sz="1050">
                <a:solidFill>
                  <a:srgbClr val="475569"/>
                </a:solidFill>
                <a:latin typeface="Segoe UI"/>
              </a:rPr>
              <a:t>Continuous bedside telemetry monitoring combining Daphne ASGI real-time channels with calibrated Random Forest inference to prevent emergency department &amp; ICU deterioration. Features sub-millisecond CPU inference (0.136ms), 0.985 ROC-AUC, 0.0027 calibrated Brier score, and sub-12ms game-theoretic TreeSHAP explainability.</a:t>
            </a:r>
          </a:p>
          <a:p>
            <a:pPr>
              <a:spcBef>
                <a:spcPts val="500"/>
              </a:spcBef>
            </a:pPr>
            <a:r>
              <a:rPr sz="950" b="1">
                <a:solidFill>
                  <a:srgbClr val="1E3A8A"/>
                </a:solidFill>
                <a:latin typeface="Segoe UI"/>
              </a:rPr>
              <a:t>Core Stack: Python 3.13 • Django 5 ASGI • Daphne • Redis 7 • Next.js 16.3 • React 19 • Neon PostgreSQL 16 • pgvector • Scikit-Learn • TreeSHAP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657600"/>
            <a:ext cx="11277295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100" b="1">
                <a:solidFill>
                  <a:srgbClr val="1E3A8A"/>
                </a:solidFill>
                <a:latin typeface="Segoe UI"/>
              </a:rPr>
              <a:t>PROJECT PRESENTATION TEAM  (DEPARTMENT OF COMPUTER SCIENCE &amp; ENGINEERING)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4023360"/>
            <a:ext cx="2148840" cy="2240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57200" y="4023360"/>
            <a:ext cx="2148840" cy="73152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88720" y="4206240"/>
            <a:ext cx="685800" cy="685800"/>
          </a:xfrm>
          <a:prstGeom prst="ellipse">
            <a:avLst/>
          </a:prstGeom>
          <a:solidFill>
            <a:srgbClr val="EFF6FF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91440"/>
          <a:lstStyle/>
          <a:p>
            <a:pPr algn="ctr"/>
            <a:r>
              <a:rPr sz="1500" b="1">
                <a:solidFill>
                  <a:srgbClr val="0284C7"/>
                </a:solidFill>
                <a:latin typeface="Segoe UI"/>
              </a:rPr>
              <a:t>VS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" y="4983480"/>
            <a:ext cx="2002536" cy="12344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ctr"/>
            <a:r>
              <a:rPr sz="1500" b="1">
                <a:solidFill>
                  <a:srgbClr val="0F172A"/>
                </a:solidFill>
                <a:latin typeface="Segoe UI"/>
              </a:rPr>
              <a:t>VEDHASREE</a:t>
            </a:r>
          </a:p>
          <a:p>
            <a:pPr algn="ctr">
              <a:spcBef>
                <a:spcPts val="400"/>
              </a:spcBef>
            </a:pPr>
            <a:r>
              <a:rPr sz="1200" b="1">
                <a:solidFill>
                  <a:srgbClr val="0284C7"/>
                </a:solidFill>
                <a:latin typeface="Consolas"/>
              </a:rPr>
              <a:t>23X01A05Z8</a:t>
            </a:r>
          </a:p>
          <a:p>
            <a:pPr algn="ctr">
              <a:spcBef>
                <a:spcPts val="400"/>
              </a:spcBef>
            </a:pPr>
            <a:r>
              <a:rPr sz="950" b="1">
                <a:solidFill>
                  <a:srgbClr val="475569"/>
                </a:solidFill>
                <a:latin typeface="Segoe UI"/>
              </a:rPr>
              <a:t>B.Tech CSE • 4th Year</a:t>
            </a:r>
          </a:p>
          <a:p>
            <a:pPr algn="ctr">
              <a:spcBef>
                <a:spcPts val="200"/>
              </a:spcBef>
            </a:pPr>
            <a:r>
              <a:rPr sz="850">
                <a:solidFill>
                  <a:srgbClr val="64748B"/>
                </a:solidFill>
                <a:latin typeface="Segoe UI"/>
              </a:rPr>
              <a:t>Narsimha Reddy Engg College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738628" y="4023360"/>
            <a:ext cx="2148840" cy="2240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2738628" y="4023360"/>
            <a:ext cx="2148840" cy="73152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470148" y="4206240"/>
            <a:ext cx="685800" cy="685800"/>
          </a:xfrm>
          <a:prstGeom prst="ellipse">
            <a:avLst/>
          </a:prstGeom>
          <a:solidFill>
            <a:srgbClr val="EFF6FF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91440"/>
          <a:lstStyle/>
          <a:p>
            <a:pPr algn="ctr"/>
            <a:r>
              <a:rPr sz="1500" b="1">
                <a:solidFill>
                  <a:srgbClr val="1E3A8A"/>
                </a:solidFill>
                <a:latin typeface="Segoe UI"/>
              </a:rPr>
              <a:t>PR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11780" y="4983480"/>
            <a:ext cx="2002536" cy="12344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ctr"/>
            <a:r>
              <a:rPr sz="1500" b="1">
                <a:solidFill>
                  <a:srgbClr val="0F172A"/>
                </a:solidFill>
                <a:latin typeface="Segoe UI"/>
              </a:rPr>
              <a:t>PRASHANTH</a:t>
            </a:r>
          </a:p>
          <a:p>
            <a:pPr algn="ctr">
              <a:spcBef>
                <a:spcPts val="400"/>
              </a:spcBef>
            </a:pPr>
            <a:r>
              <a:rPr sz="1200" b="1">
                <a:solidFill>
                  <a:srgbClr val="0284C7"/>
                </a:solidFill>
                <a:latin typeface="Consolas"/>
              </a:rPr>
              <a:t>23X01A05Y1</a:t>
            </a:r>
          </a:p>
          <a:p>
            <a:pPr algn="ctr">
              <a:spcBef>
                <a:spcPts val="400"/>
              </a:spcBef>
            </a:pPr>
            <a:r>
              <a:rPr sz="950" b="1">
                <a:solidFill>
                  <a:srgbClr val="475569"/>
                </a:solidFill>
                <a:latin typeface="Segoe UI"/>
              </a:rPr>
              <a:t>B.Tech CSE • 4th Year</a:t>
            </a:r>
          </a:p>
          <a:p>
            <a:pPr algn="ctr">
              <a:spcBef>
                <a:spcPts val="200"/>
              </a:spcBef>
            </a:pPr>
            <a:r>
              <a:rPr sz="850">
                <a:solidFill>
                  <a:srgbClr val="64748B"/>
                </a:solidFill>
                <a:latin typeface="Segoe UI"/>
              </a:rPr>
              <a:t>Narsimha Reddy Engg College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0056" y="4023360"/>
            <a:ext cx="2148840" cy="2240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020056" y="4023360"/>
            <a:ext cx="2148840" cy="73152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751576" y="4206240"/>
            <a:ext cx="685800" cy="685800"/>
          </a:xfrm>
          <a:prstGeom prst="ellipse">
            <a:avLst/>
          </a:prstGeom>
          <a:solidFill>
            <a:srgbClr val="EFF6FF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91440"/>
          <a:lstStyle/>
          <a:p>
            <a:pPr algn="ctr"/>
            <a:r>
              <a:rPr sz="1500" b="1">
                <a:solidFill>
                  <a:srgbClr val="0284C7"/>
                </a:solidFill>
                <a:latin typeface="Segoe UI"/>
              </a:rPr>
              <a:t>AB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93208" y="4983480"/>
            <a:ext cx="2002536" cy="12344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ctr"/>
            <a:r>
              <a:rPr sz="1500" b="1">
                <a:solidFill>
                  <a:srgbClr val="0F172A"/>
                </a:solidFill>
                <a:latin typeface="Segoe UI"/>
              </a:rPr>
              <a:t>ABHINAY</a:t>
            </a:r>
          </a:p>
          <a:p>
            <a:pPr algn="ctr">
              <a:spcBef>
                <a:spcPts val="400"/>
              </a:spcBef>
            </a:pPr>
            <a:r>
              <a:rPr sz="1200" b="1">
                <a:solidFill>
                  <a:srgbClr val="0284C7"/>
                </a:solidFill>
                <a:latin typeface="Consolas"/>
              </a:rPr>
              <a:t>23X01A05AG</a:t>
            </a:r>
          </a:p>
          <a:p>
            <a:pPr algn="ctr">
              <a:spcBef>
                <a:spcPts val="400"/>
              </a:spcBef>
            </a:pPr>
            <a:r>
              <a:rPr sz="950" b="1">
                <a:solidFill>
                  <a:srgbClr val="475569"/>
                </a:solidFill>
                <a:latin typeface="Segoe UI"/>
              </a:rPr>
              <a:t>B.Tech CSE • 4th Year</a:t>
            </a:r>
          </a:p>
          <a:p>
            <a:pPr algn="ctr">
              <a:spcBef>
                <a:spcPts val="200"/>
              </a:spcBef>
            </a:pPr>
            <a:r>
              <a:rPr sz="850">
                <a:solidFill>
                  <a:srgbClr val="64748B"/>
                </a:solidFill>
                <a:latin typeface="Segoe UI"/>
              </a:rPr>
              <a:t>Narsimha Reddy Engg College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01484" y="4023360"/>
            <a:ext cx="2148840" cy="2240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301484" y="4023360"/>
            <a:ext cx="2148840" cy="73152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33004" y="4206240"/>
            <a:ext cx="685800" cy="685800"/>
          </a:xfrm>
          <a:prstGeom prst="ellipse">
            <a:avLst/>
          </a:prstGeom>
          <a:solidFill>
            <a:srgbClr val="EFF6FF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91440"/>
          <a:lstStyle/>
          <a:p>
            <a:pPr algn="ctr"/>
            <a:r>
              <a:rPr sz="1500" b="1">
                <a:solidFill>
                  <a:srgbClr val="1E3A8A"/>
                </a:solidFill>
                <a:latin typeface="Segoe UI"/>
              </a:rPr>
              <a:t>RH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74636" y="4983480"/>
            <a:ext cx="2002536" cy="12344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ctr"/>
            <a:r>
              <a:rPr sz="1500" b="1">
                <a:solidFill>
                  <a:srgbClr val="0F172A"/>
                </a:solidFill>
                <a:latin typeface="Segoe UI"/>
              </a:rPr>
              <a:t>RAHUL</a:t>
            </a:r>
          </a:p>
          <a:p>
            <a:pPr algn="ctr">
              <a:spcBef>
                <a:spcPts val="400"/>
              </a:spcBef>
            </a:pPr>
            <a:r>
              <a:rPr sz="1200" b="1">
                <a:solidFill>
                  <a:srgbClr val="0284C7"/>
                </a:solidFill>
                <a:latin typeface="Consolas"/>
              </a:rPr>
              <a:t>23X01A05AL</a:t>
            </a:r>
          </a:p>
          <a:p>
            <a:pPr algn="ctr">
              <a:spcBef>
                <a:spcPts val="400"/>
              </a:spcBef>
            </a:pPr>
            <a:r>
              <a:rPr sz="950" b="1">
                <a:solidFill>
                  <a:srgbClr val="475569"/>
                </a:solidFill>
                <a:latin typeface="Segoe UI"/>
              </a:rPr>
              <a:t>B.Tech CSE • 4th Year</a:t>
            </a:r>
          </a:p>
          <a:p>
            <a:pPr algn="ctr">
              <a:spcBef>
                <a:spcPts val="200"/>
              </a:spcBef>
            </a:pPr>
            <a:r>
              <a:rPr sz="850">
                <a:solidFill>
                  <a:srgbClr val="64748B"/>
                </a:solidFill>
                <a:latin typeface="Segoe UI"/>
              </a:rPr>
              <a:t>Narsimha Reddy Engg College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582912" y="4023360"/>
            <a:ext cx="2148840" cy="2240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582912" y="4023360"/>
            <a:ext cx="2148840" cy="73152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0314432" y="4206240"/>
            <a:ext cx="685800" cy="685800"/>
          </a:xfrm>
          <a:prstGeom prst="ellipse">
            <a:avLst/>
          </a:prstGeom>
          <a:solidFill>
            <a:srgbClr val="EFF6FF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91440"/>
          <a:lstStyle/>
          <a:p>
            <a:pPr algn="ctr"/>
            <a:r>
              <a:rPr sz="1500" b="1">
                <a:solidFill>
                  <a:srgbClr val="0284C7"/>
                </a:solidFill>
                <a:latin typeface="Segoe UI"/>
              </a:rPr>
              <a:t>PN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56064" y="4983480"/>
            <a:ext cx="2002536" cy="12344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ctr"/>
            <a:r>
              <a:rPr sz="1500" b="1">
                <a:solidFill>
                  <a:srgbClr val="0F172A"/>
                </a:solidFill>
                <a:latin typeface="Segoe UI"/>
              </a:rPr>
              <a:t>PRANAY</a:t>
            </a:r>
          </a:p>
          <a:p>
            <a:pPr algn="ctr">
              <a:spcBef>
                <a:spcPts val="400"/>
              </a:spcBef>
            </a:pPr>
            <a:r>
              <a:rPr sz="1200" b="1">
                <a:solidFill>
                  <a:srgbClr val="0284C7"/>
                </a:solidFill>
                <a:latin typeface="Consolas"/>
              </a:rPr>
              <a:t>23X01A05AA</a:t>
            </a:r>
          </a:p>
          <a:p>
            <a:pPr algn="ctr">
              <a:spcBef>
                <a:spcPts val="400"/>
              </a:spcBef>
            </a:pPr>
            <a:r>
              <a:rPr sz="950" b="1">
                <a:solidFill>
                  <a:srgbClr val="475569"/>
                </a:solidFill>
                <a:latin typeface="Segoe UI"/>
              </a:rPr>
              <a:t>B.Tech CSE • 4th Year</a:t>
            </a:r>
          </a:p>
          <a:p>
            <a:pPr algn="ctr">
              <a:spcBef>
                <a:spcPts val="200"/>
              </a:spcBef>
            </a:pPr>
            <a:r>
              <a:rPr sz="850">
                <a:solidFill>
                  <a:srgbClr val="64748B"/>
                </a:solidFill>
                <a:latin typeface="Segoe UI"/>
              </a:rPr>
              <a:t>Narsimha Reddy Engg College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6419088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>
                <a:solidFill>
                  <a:srgbClr val="64748B"/>
                </a:solidFill>
                <a:latin typeface="Segoe UI"/>
              </a:rPr>
              <a:t>Narsimha Reddy Engineering College  •  Maisammaguda, Secunderabad  •  HealthNova AI Project Code: BPY-CSE-2666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274320"/>
            <a:ext cx="4114800" cy="32918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EC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36576"/>
          <a:lstStyle/>
          <a:p>
            <a:pPr algn="ctr"/>
            <a:r>
              <a:rPr sz="950" b="1">
                <a:solidFill>
                  <a:srgbClr val="BE123C"/>
                </a:solidFill>
                <a:latin typeface="Segoe UI"/>
              </a:rPr>
              <a:t>SECTION 1 / 6  •  1) 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0" y="274320"/>
            <a:ext cx="5150815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64748B"/>
                </a:solidFill>
                <a:latin typeface="Segoe UI"/>
              </a:rPr>
              <a:t>BPY-CSE-2666 • HealthNova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1277295" cy="10058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2400" b="1">
                <a:solidFill>
                  <a:srgbClr val="9F1239"/>
                </a:solidFill>
                <a:latin typeface="Segoe UI"/>
              </a:rPr>
              <a:t>1) Introduction — Problem &amp; Solution</a:t>
            </a:r>
          </a:p>
          <a:p>
            <a:pPr>
              <a:spcBef>
                <a:spcPts val="200"/>
              </a:spcBef>
            </a:pPr>
            <a:r>
              <a:rPr sz="1200" b="1">
                <a:solidFill>
                  <a:srgbClr val="BE123C"/>
                </a:solidFill>
                <a:latin typeface="Segoe UI"/>
              </a:rPr>
              <a:t>Why Traditional Scores Fail &amp; How HealthNova AI Solves It</a:t>
            </a:r>
          </a:p>
          <a:p>
            <a:pPr>
              <a:spcBef>
                <a:spcPts val="200"/>
              </a:spcBef>
            </a:pPr>
            <a:r>
              <a:rPr sz="1050" b="1">
                <a:solidFill>
                  <a:srgbClr val="64748B"/>
                </a:solidFill>
                <a:latin typeface="Segoe UI"/>
              </a:rPr>
              <a:t>💡 Key Takeaway: Continuous, explainable AI to detect cardiac deterioration in real time.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783080"/>
            <a:ext cx="3621024" cy="4434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EC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1783080"/>
            <a:ext cx="3621024" cy="73152"/>
          </a:xfrm>
          <a:prstGeom prst="round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984248"/>
            <a:ext cx="3218688" cy="37947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050" b="1">
                <a:solidFill>
                  <a:srgbClr val="BE123C"/>
                </a:solidFill>
                <a:latin typeface="Segoe UI"/>
              </a:rPr>
              <a:t>POINT 01</a:t>
            </a:r>
          </a:p>
          <a:p>
            <a:pPr>
              <a:spcBef>
                <a:spcPts val="600"/>
              </a:spcBef>
            </a:pPr>
            <a:r>
              <a:rPr sz="1900" b="1">
                <a:solidFill>
                  <a:srgbClr val="9F1239"/>
                </a:solidFill>
                <a:latin typeface="Segoe UI"/>
              </a:rPr>
              <a:t>Traditional Scores Fail</a:t>
            </a:r>
          </a:p>
          <a:p>
            <a:pPr>
              <a:spcBef>
                <a:spcPts val="2200"/>
              </a:spcBef>
            </a:pPr>
            <a:r>
              <a:rPr sz="1350" b="1">
                <a:solidFill>
                  <a:srgbClr val="9F1239"/>
                </a:solidFill>
                <a:latin typeface="Segoe UI"/>
              </a:rPr>
              <a:t>✔ 24-Hour Delay:</a:t>
            </a:r>
            <a:r>
              <a:rPr sz="1300">
                <a:solidFill>
                  <a:srgbClr val="64748B"/>
                </a:solidFill>
                <a:latin typeface="Segoe UI"/>
              </a:rPr>
              <a:t> TIMI &amp; APACHE II update only once daily</a:t>
            </a:r>
          </a:p>
          <a:p>
            <a:pPr>
              <a:spcBef>
                <a:spcPts val="2200"/>
              </a:spcBef>
            </a:pPr>
            <a:r>
              <a:rPr sz="1350" b="1">
                <a:solidFill>
                  <a:srgbClr val="9F1239"/>
                </a:solidFill>
                <a:latin typeface="Segoe UI"/>
              </a:rPr>
              <a:t>✔ Misses Acute Crashes:</a:t>
            </a:r>
            <a:r>
              <a:rPr sz="1300">
                <a:solidFill>
                  <a:srgbClr val="64748B"/>
                </a:solidFill>
                <a:latin typeface="Segoe UI"/>
              </a:rPr>
              <a:t> ICU patients deteriorate in minutes</a:t>
            </a:r>
          </a:p>
          <a:p>
            <a:pPr>
              <a:spcBef>
                <a:spcPts val="2200"/>
              </a:spcBef>
            </a:pPr>
            <a:r>
              <a:rPr sz="1350" b="1">
                <a:solidFill>
                  <a:srgbClr val="9F1239"/>
                </a:solidFill>
                <a:latin typeface="Segoe UI"/>
              </a:rPr>
              <a:t>✔ Static Paper Reports:</a:t>
            </a:r>
            <a:r>
              <a:rPr sz="1300">
                <a:solidFill>
                  <a:srgbClr val="64748B"/>
                </a:solidFill>
                <a:latin typeface="Segoe UI"/>
              </a:rPr>
              <a:t> Cannot process continuous live vitals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5815584"/>
            <a:ext cx="3291840" cy="310896"/>
          </a:xfrm>
          <a:prstGeom prst="roundRect">
            <a:avLst/>
          </a:prstGeom>
          <a:solidFill>
            <a:srgbClr val="FFF1F2"/>
          </a:solidFill>
          <a:ln w="12700">
            <a:solidFill>
              <a:srgbClr val="FEC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36576"/>
          <a:lstStyle/>
          <a:p>
            <a:pPr algn="ctr"/>
            <a:r>
              <a:rPr sz="950" b="1">
                <a:solidFill>
                  <a:srgbClr val="E11D48"/>
                </a:solidFill>
                <a:latin typeface="Segoe UI"/>
              </a:rPr>
              <a:t>Problem: 24h Static Delay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84878" y="1783080"/>
            <a:ext cx="3621024" cy="4434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EC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284878" y="1783080"/>
            <a:ext cx="3621024" cy="73152"/>
          </a:xfrm>
          <a:prstGeom prst="round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6046" y="1984248"/>
            <a:ext cx="3218688" cy="37947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050" b="1">
                <a:solidFill>
                  <a:srgbClr val="BE123C"/>
                </a:solidFill>
                <a:latin typeface="Segoe UI"/>
              </a:rPr>
              <a:t>POINT 02</a:t>
            </a:r>
          </a:p>
          <a:p>
            <a:pPr>
              <a:spcBef>
                <a:spcPts val="600"/>
              </a:spcBef>
            </a:pPr>
            <a:r>
              <a:rPr sz="1900" b="1">
                <a:solidFill>
                  <a:srgbClr val="9F1239"/>
                </a:solidFill>
                <a:latin typeface="Segoe UI"/>
              </a:rPr>
              <a:t>Alarm Fatigue &amp; Black Box</a:t>
            </a:r>
          </a:p>
          <a:p>
            <a:pPr>
              <a:spcBef>
                <a:spcPts val="2200"/>
              </a:spcBef>
            </a:pPr>
            <a:r>
              <a:rPr sz="1350" b="1">
                <a:solidFill>
                  <a:srgbClr val="9F1239"/>
                </a:solidFill>
                <a:latin typeface="Segoe UI"/>
              </a:rPr>
              <a:t>✔ 85%+ False Alarms:</a:t>
            </a:r>
            <a:r>
              <a:rPr sz="1300">
                <a:solidFill>
                  <a:srgbClr val="64748B"/>
                </a:solidFill>
                <a:latin typeface="Segoe UI"/>
              </a:rPr>
              <a:t> Causes severe nurse burnout and fatigue</a:t>
            </a:r>
          </a:p>
          <a:p>
            <a:pPr>
              <a:spcBef>
                <a:spcPts val="2200"/>
              </a:spcBef>
            </a:pPr>
            <a:r>
              <a:rPr sz="1350" b="1">
                <a:solidFill>
                  <a:srgbClr val="9F1239"/>
                </a:solidFill>
                <a:latin typeface="Segoe UI"/>
              </a:rPr>
              <a:t>✔ Black-Box Deep AI:</a:t>
            </a:r>
            <a:r>
              <a:rPr sz="1300">
                <a:solidFill>
                  <a:srgbClr val="64748B"/>
                </a:solidFill>
                <a:latin typeface="Segoe UI"/>
              </a:rPr>
              <a:t> Neural networks hide the reason 'why'</a:t>
            </a:r>
          </a:p>
          <a:p>
            <a:pPr>
              <a:spcBef>
                <a:spcPts val="2200"/>
              </a:spcBef>
            </a:pPr>
            <a:r>
              <a:rPr sz="1350" b="1">
                <a:solidFill>
                  <a:srgbClr val="9F1239"/>
                </a:solidFill>
                <a:latin typeface="Segoe UI"/>
              </a:rPr>
              <a:t>✔ Clinician Distrust:</a:t>
            </a:r>
            <a:r>
              <a:rPr sz="1300">
                <a:solidFill>
                  <a:srgbClr val="64748B"/>
                </a:solidFill>
                <a:latin typeface="Segoe UI"/>
              </a:rPr>
              <a:t> Doctors reject unexplained predictions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49470" y="5815584"/>
            <a:ext cx="3291840" cy="310896"/>
          </a:xfrm>
          <a:prstGeom prst="roundRect">
            <a:avLst/>
          </a:prstGeom>
          <a:solidFill>
            <a:srgbClr val="FFF1F2"/>
          </a:solidFill>
          <a:ln w="12700">
            <a:solidFill>
              <a:srgbClr val="FEC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36576"/>
          <a:lstStyle/>
          <a:p>
            <a:pPr algn="ctr"/>
            <a:r>
              <a:rPr sz="950" b="1">
                <a:solidFill>
                  <a:srgbClr val="E11D48"/>
                </a:solidFill>
                <a:latin typeface="Segoe UI"/>
              </a:rPr>
              <a:t>Barrier: False Alarms &amp; Black Box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12556" y="1783080"/>
            <a:ext cx="3621024" cy="4434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EC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112556" y="1783080"/>
            <a:ext cx="3621024" cy="73152"/>
          </a:xfrm>
          <a:prstGeom prst="round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13724" y="1984248"/>
            <a:ext cx="3218688" cy="37947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050" b="1">
                <a:solidFill>
                  <a:srgbClr val="BE123C"/>
                </a:solidFill>
                <a:latin typeface="Segoe UI"/>
              </a:rPr>
              <a:t>POINT 03</a:t>
            </a:r>
          </a:p>
          <a:p>
            <a:pPr>
              <a:spcBef>
                <a:spcPts val="600"/>
              </a:spcBef>
            </a:pPr>
            <a:r>
              <a:rPr sz="1900" b="1">
                <a:solidFill>
                  <a:srgbClr val="9F1239"/>
                </a:solidFill>
                <a:latin typeface="Segoe UI"/>
              </a:rPr>
              <a:t>The HealthNova Solution</a:t>
            </a:r>
          </a:p>
          <a:p>
            <a:pPr>
              <a:spcBef>
                <a:spcPts val="2200"/>
              </a:spcBef>
            </a:pPr>
            <a:r>
              <a:rPr sz="1350" b="1">
                <a:solidFill>
                  <a:srgbClr val="9F1239"/>
                </a:solidFill>
                <a:latin typeface="Segoe UI"/>
              </a:rPr>
              <a:t>✔ Real-Time 4-Tier Risk:</a:t>
            </a:r>
            <a:r>
              <a:rPr sz="1300">
                <a:solidFill>
                  <a:srgbClr val="64748B"/>
                </a:solidFill>
                <a:latin typeface="Segoe UI"/>
              </a:rPr>
              <a:t> Continuous Low, Mod, High, Critical</a:t>
            </a:r>
          </a:p>
          <a:p>
            <a:pPr>
              <a:spcBef>
                <a:spcPts val="2200"/>
              </a:spcBef>
            </a:pPr>
            <a:r>
              <a:rPr sz="1350" b="1">
                <a:solidFill>
                  <a:srgbClr val="9F1239"/>
                </a:solidFill>
                <a:latin typeface="Segoe UI"/>
              </a:rPr>
              <a:t>✔ Sub-12ms XAI:</a:t>
            </a:r>
            <a:r>
              <a:rPr sz="1300">
                <a:solidFill>
                  <a:srgbClr val="64748B"/>
                </a:solidFill>
                <a:latin typeface="Segoe UI"/>
              </a:rPr>
              <a:t> TreeSHAP explains every biomarker factor</a:t>
            </a:r>
          </a:p>
          <a:p>
            <a:pPr>
              <a:spcBef>
                <a:spcPts val="2200"/>
              </a:spcBef>
            </a:pPr>
            <a:r>
              <a:rPr sz="1350" b="1">
                <a:solidFill>
                  <a:srgbClr val="9F1239"/>
                </a:solidFill>
                <a:latin typeface="Segoe UI"/>
              </a:rPr>
              <a:t>✔ 100% Doctor in the Loop:</a:t>
            </a:r>
            <a:r>
              <a:rPr sz="1300">
                <a:solidFill>
                  <a:srgbClr val="64748B"/>
                </a:solidFill>
                <a:latin typeface="Segoe UI"/>
              </a:rPr>
              <a:t> Hard medical fail-safes override AI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77148" y="5815584"/>
            <a:ext cx="3291840" cy="310896"/>
          </a:xfrm>
          <a:prstGeom prst="roundRect">
            <a:avLst/>
          </a:prstGeom>
          <a:solidFill>
            <a:srgbClr val="FFF1F2"/>
          </a:solidFill>
          <a:ln w="12700">
            <a:solidFill>
              <a:srgbClr val="FEC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36576"/>
          <a:lstStyle/>
          <a:p>
            <a:pPr algn="ctr"/>
            <a:r>
              <a:rPr sz="950" b="1">
                <a:solidFill>
                  <a:srgbClr val="E11D48"/>
                </a:solidFill>
                <a:latin typeface="Segoe UI"/>
              </a:rPr>
              <a:t>Solution: Real-Time Explainable CDSS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382512"/>
            <a:ext cx="11277295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>
                <a:solidFill>
                  <a:srgbClr val="64748B"/>
                </a:solidFill>
                <a:latin typeface="Segoe UI"/>
              </a:rPr>
              <a:t>HealthNova AI  •  Assistive Intelligence Only  •  Human-in-the-Loop Clinician Sign-Off Mandated  •  21 CFR Part 11 Aligned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274320"/>
            <a:ext cx="4114800" cy="32918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36576"/>
          <a:lstStyle/>
          <a:p>
            <a:pPr algn="ctr"/>
            <a:r>
              <a:rPr sz="950" b="1">
                <a:solidFill>
                  <a:srgbClr val="4338CA"/>
                </a:solidFill>
                <a:latin typeface="Segoe UI"/>
              </a:rPr>
              <a:t>SECTION 2 / 6  •  2) ARCHITECTURE OF OUR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0" y="274320"/>
            <a:ext cx="5150815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64748B"/>
                </a:solidFill>
                <a:latin typeface="Segoe UI"/>
              </a:rPr>
              <a:t>BPY-CSE-2666 • HealthNova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1277295" cy="10058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2400" b="1">
                <a:solidFill>
                  <a:srgbClr val="312E81"/>
                </a:solidFill>
                <a:latin typeface="Segoe UI"/>
              </a:rPr>
              <a:t>2) Architecture of Our Project</a:t>
            </a:r>
          </a:p>
          <a:p>
            <a:pPr>
              <a:spcBef>
                <a:spcPts val="200"/>
              </a:spcBef>
            </a:pPr>
            <a:r>
              <a:rPr sz="1200" b="1">
                <a:solidFill>
                  <a:srgbClr val="4338CA"/>
                </a:solidFill>
                <a:latin typeface="Segoe UI"/>
              </a:rPr>
              <a:t>Decoupled Dual-Stack Foundation</a:t>
            </a:r>
          </a:p>
          <a:p>
            <a:pPr>
              <a:spcBef>
                <a:spcPts val="200"/>
              </a:spcBef>
            </a:pPr>
            <a:r>
              <a:rPr sz="1050" b="1">
                <a:solidFill>
                  <a:srgbClr val="64748B"/>
                </a:solidFill>
                <a:latin typeface="Segoe UI"/>
              </a:rPr>
              <a:t>💡 Key Takeaway: High-speed Python ASGI streaming paired with Next.js 16 and Neon PostgreSQL.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783080"/>
            <a:ext cx="3621024" cy="4434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1783080"/>
            <a:ext cx="3621024" cy="73152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984248"/>
            <a:ext cx="3218688" cy="37947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050" b="1">
                <a:solidFill>
                  <a:srgbClr val="4338CA"/>
                </a:solidFill>
                <a:latin typeface="Segoe UI"/>
              </a:rPr>
              <a:t>POINT 01</a:t>
            </a:r>
          </a:p>
          <a:p>
            <a:pPr>
              <a:spcBef>
                <a:spcPts val="600"/>
              </a:spcBef>
            </a:pPr>
            <a:r>
              <a:rPr sz="1900" b="1">
                <a:solidFill>
                  <a:srgbClr val="312E81"/>
                </a:solidFill>
                <a:latin typeface="Segoe UI"/>
              </a:rPr>
              <a:t>Python ASGI Backend</a:t>
            </a:r>
          </a:p>
          <a:p>
            <a:pPr>
              <a:spcBef>
                <a:spcPts val="2200"/>
              </a:spcBef>
            </a:pPr>
            <a:r>
              <a:rPr sz="1350" b="1">
                <a:solidFill>
                  <a:srgbClr val="312E81"/>
                </a:solidFill>
                <a:latin typeface="Segoe UI"/>
              </a:rPr>
              <a:t>✔ Python 3.13 &amp; Django 5:</a:t>
            </a:r>
            <a:r>
              <a:rPr sz="1300">
                <a:solidFill>
                  <a:srgbClr val="64748B"/>
                </a:solidFill>
                <a:latin typeface="Segoe UI"/>
              </a:rPr>
              <a:t> Core asynchronous clinical logic</a:t>
            </a:r>
          </a:p>
          <a:p>
            <a:pPr>
              <a:spcBef>
                <a:spcPts val="2200"/>
              </a:spcBef>
            </a:pPr>
            <a:r>
              <a:rPr sz="1350" b="1">
                <a:solidFill>
                  <a:srgbClr val="312E81"/>
                </a:solidFill>
                <a:latin typeface="Segoe UI"/>
              </a:rPr>
              <a:t>✔ Daphne &amp; Redis 7:</a:t>
            </a:r>
            <a:r>
              <a:rPr sz="1300">
                <a:solidFill>
                  <a:srgbClr val="64748B"/>
                </a:solidFill>
                <a:latin typeface="Segoe UI"/>
              </a:rPr>
              <a:t> Live WebSockets with &lt; 20ms latency</a:t>
            </a:r>
          </a:p>
          <a:p>
            <a:pPr>
              <a:spcBef>
                <a:spcPts val="2200"/>
              </a:spcBef>
            </a:pPr>
            <a:r>
              <a:rPr sz="1350" b="1">
                <a:solidFill>
                  <a:srgbClr val="312E81"/>
                </a:solidFill>
                <a:latin typeface="Segoe UI"/>
              </a:rPr>
              <a:t>✔ Celery Task Queues:</a:t>
            </a:r>
            <a:r>
              <a:rPr sz="1300">
                <a:solidFill>
                  <a:srgbClr val="64748B"/>
                </a:solidFill>
                <a:latin typeface="Segoe UI"/>
              </a:rPr>
              <a:t> Non-blocking background analytics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5815584"/>
            <a:ext cx="3291840" cy="310896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36576"/>
          <a:lstStyle/>
          <a:p>
            <a:pPr algn="ctr"/>
            <a:r>
              <a:rPr sz="950" b="1">
                <a:solidFill>
                  <a:srgbClr val="6366F1"/>
                </a:solidFill>
                <a:latin typeface="Segoe UI"/>
              </a:rPr>
              <a:t>Backend: Django ASGI • Daphne • Redis 7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84878" y="1783080"/>
            <a:ext cx="3621024" cy="4434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284878" y="1783080"/>
            <a:ext cx="3621024" cy="73152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6046" y="1984248"/>
            <a:ext cx="3218688" cy="37947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050" b="1">
                <a:solidFill>
                  <a:srgbClr val="4338CA"/>
                </a:solidFill>
                <a:latin typeface="Segoe UI"/>
              </a:rPr>
              <a:t>POINT 02</a:t>
            </a:r>
          </a:p>
          <a:p>
            <a:pPr>
              <a:spcBef>
                <a:spcPts val="600"/>
              </a:spcBef>
            </a:pPr>
            <a:r>
              <a:rPr sz="1900" b="1">
                <a:solidFill>
                  <a:srgbClr val="312E81"/>
                </a:solidFill>
                <a:latin typeface="Segoe UI"/>
              </a:rPr>
              <a:t>Neon PostgreSQL 16</a:t>
            </a:r>
          </a:p>
          <a:p>
            <a:pPr>
              <a:spcBef>
                <a:spcPts val="2200"/>
              </a:spcBef>
            </a:pPr>
            <a:r>
              <a:rPr sz="1350" b="1">
                <a:solidFill>
                  <a:srgbClr val="312E81"/>
                </a:solidFill>
                <a:latin typeface="Segoe UI"/>
              </a:rPr>
              <a:t>✔ Authoritative Database:</a:t>
            </a:r>
            <a:r>
              <a:rPr sz="1300">
                <a:solidFill>
                  <a:srgbClr val="64748B"/>
                </a:solidFill>
                <a:latin typeface="Segoe UI"/>
              </a:rPr>
              <a:t> Single trusted source for all data</a:t>
            </a:r>
          </a:p>
          <a:p>
            <a:pPr>
              <a:spcBef>
                <a:spcPts val="2200"/>
              </a:spcBef>
            </a:pPr>
            <a:r>
              <a:rPr sz="1350" b="1">
                <a:solidFill>
                  <a:srgbClr val="312E81"/>
                </a:solidFill>
                <a:latin typeface="Segoe UI"/>
              </a:rPr>
              <a:t>✔ pgvector Extension:</a:t>
            </a:r>
            <a:r>
              <a:rPr sz="1300">
                <a:solidFill>
                  <a:srgbClr val="64748B"/>
                </a:solidFill>
                <a:latin typeface="Segoe UI"/>
              </a:rPr>
              <a:t> Instant semantic protocol retrieval</a:t>
            </a:r>
          </a:p>
          <a:p>
            <a:pPr>
              <a:spcBef>
                <a:spcPts val="2200"/>
              </a:spcBef>
            </a:pPr>
            <a:r>
              <a:rPr sz="1350" b="1">
                <a:solidFill>
                  <a:srgbClr val="312E81"/>
                </a:solidFill>
                <a:latin typeface="Segoe UI"/>
              </a:rPr>
              <a:t>✔ Zero-Trust Security:</a:t>
            </a:r>
            <a:r>
              <a:rPr sz="1300">
                <a:solidFill>
                  <a:srgbClr val="64748B"/>
                </a:solidFill>
                <a:latin typeface="Segoe UI"/>
              </a:rPr>
              <a:t> Complete zero-PHI privacy isolation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49470" y="5815584"/>
            <a:ext cx="3291840" cy="310896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36576"/>
          <a:lstStyle/>
          <a:p>
            <a:pPr algn="ctr"/>
            <a:r>
              <a:rPr sz="950" b="1">
                <a:solidFill>
                  <a:srgbClr val="6366F1"/>
                </a:solidFill>
                <a:latin typeface="Segoe UI"/>
              </a:rPr>
              <a:t>Database: Neon PostgreSQL 16 • pgvector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12556" y="1783080"/>
            <a:ext cx="3621024" cy="4434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112556" y="1783080"/>
            <a:ext cx="3621024" cy="73152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13724" y="1984248"/>
            <a:ext cx="3218688" cy="37947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050" b="1">
                <a:solidFill>
                  <a:srgbClr val="4338CA"/>
                </a:solidFill>
                <a:latin typeface="Segoe UI"/>
              </a:rPr>
              <a:t>POINT 03</a:t>
            </a:r>
          </a:p>
          <a:p>
            <a:pPr>
              <a:spcBef>
                <a:spcPts val="600"/>
              </a:spcBef>
            </a:pPr>
            <a:r>
              <a:rPr sz="1900" b="1">
                <a:solidFill>
                  <a:srgbClr val="312E81"/>
                </a:solidFill>
                <a:latin typeface="Segoe UI"/>
              </a:rPr>
              <a:t>Next.js 16 Workspaces</a:t>
            </a:r>
          </a:p>
          <a:p>
            <a:pPr>
              <a:spcBef>
                <a:spcPts val="2200"/>
              </a:spcBef>
            </a:pPr>
            <a:r>
              <a:rPr sz="1350" b="1">
                <a:solidFill>
                  <a:srgbClr val="312E81"/>
                </a:solidFill>
                <a:latin typeface="Segoe UI"/>
              </a:rPr>
              <a:t>✔ Next.js 16 &amp; React 19:</a:t>
            </a:r>
            <a:r>
              <a:rPr sz="1300">
                <a:solidFill>
                  <a:srgbClr val="64748B"/>
                </a:solidFill>
                <a:latin typeface="Segoe UI"/>
              </a:rPr>
              <a:t> 173 fast compiled hospital routes</a:t>
            </a:r>
          </a:p>
          <a:p>
            <a:pPr>
              <a:spcBef>
                <a:spcPts val="2200"/>
              </a:spcBef>
            </a:pPr>
            <a:r>
              <a:rPr sz="1350" b="1">
                <a:solidFill>
                  <a:srgbClr val="312E81"/>
                </a:solidFill>
                <a:latin typeface="Segoe UI"/>
              </a:rPr>
              <a:t>✔ 120 FPS SVG Canvas:</a:t>
            </a:r>
            <a:r>
              <a:rPr sz="1300">
                <a:solidFill>
                  <a:srgbClr val="64748B"/>
                </a:solidFill>
                <a:latin typeface="Segoe UI"/>
              </a:rPr>
              <a:t> Fluid bedside ECG waveform display</a:t>
            </a:r>
          </a:p>
          <a:p>
            <a:pPr>
              <a:spcBef>
                <a:spcPts val="2200"/>
              </a:spcBef>
            </a:pPr>
            <a:r>
              <a:rPr sz="1350" b="1">
                <a:solidFill>
                  <a:srgbClr val="312E81"/>
                </a:solidFill>
                <a:latin typeface="Segoe UI"/>
              </a:rPr>
              <a:t>✔ Sub-250ms Load Times:</a:t>
            </a:r>
            <a:r>
              <a:rPr sz="1300">
                <a:solidFill>
                  <a:srgbClr val="64748B"/>
                </a:solidFill>
                <a:latin typeface="Segoe UI"/>
              </a:rPr>
              <a:t> Zero external tracking for privacy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77148" y="5815584"/>
            <a:ext cx="3291840" cy="310896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36576"/>
          <a:lstStyle/>
          <a:p>
            <a:pPr algn="ctr"/>
            <a:r>
              <a:rPr sz="950" b="1">
                <a:solidFill>
                  <a:srgbClr val="6366F1"/>
                </a:solidFill>
                <a:latin typeface="Segoe UI"/>
              </a:rPr>
              <a:t>Frontend: Next.js 16.3 • React 19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382512"/>
            <a:ext cx="11277295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>
                <a:solidFill>
                  <a:srgbClr val="64748B"/>
                </a:solidFill>
                <a:latin typeface="Segoe UI"/>
              </a:rPr>
              <a:t>HealthNova AI  •  Assistive Intelligence Only  •  Human-in-the-Loop Clinician Sign-Off Mandated  •  21 CFR Part 11 Aligned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274320"/>
            <a:ext cx="4114800" cy="32918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36576"/>
          <a:lstStyle/>
          <a:p>
            <a:pPr algn="ctr"/>
            <a:r>
              <a:rPr sz="950" b="1">
                <a:solidFill>
                  <a:srgbClr val="047857"/>
                </a:solidFill>
                <a:latin typeface="Segoe UI"/>
              </a:rPr>
              <a:t>SECTION 3 / 6  •  3) WORKING PROCESS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0" y="274320"/>
            <a:ext cx="5150815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64748B"/>
                </a:solidFill>
                <a:latin typeface="Segoe UI"/>
              </a:rPr>
              <a:t>BPY-CSE-2666 • HealthNova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1277295" cy="10058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2400" b="1">
                <a:solidFill>
                  <a:srgbClr val="064E3B"/>
                </a:solidFill>
                <a:latin typeface="Segoe UI"/>
              </a:rPr>
              <a:t>3) Working Process — Real-Time Pipeline</a:t>
            </a:r>
          </a:p>
          <a:p>
            <a:pPr>
              <a:spcBef>
                <a:spcPts val="200"/>
              </a:spcBef>
            </a:pPr>
            <a:r>
              <a:rPr sz="1200" b="1">
                <a:solidFill>
                  <a:srgbClr val="047857"/>
                </a:solidFill>
                <a:latin typeface="Segoe UI"/>
              </a:rPr>
              <a:t>From Raw Bedside Vitals to Calibrated Risk &amp; TreeSHAP Attribution</a:t>
            </a:r>
          </a:p>
          <a:p>
            <a:pPr>
              <a:spcBef>
                <a:spcPts val="200"/>
              </a:spcBef>
            </a:pPr>
            <a:r>
              <a:rPr sz="1050" b="1">
                <a:solidFill>
                  <a:srgbClr val="64748B"/>
                </a:solidFill>
                <a:latin typeface="Segoe UI"/>
              </a:rPr>
              <a:t>💡 Key Takeaway: Live vitals stream into calibrated Random Forest (0.136ms CPU) and TreeSHAP explains drivers.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783080"/>
            <a:ext cx="3621024" cy="4434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1783080"/>
            <a:ext cx="3621024" cy="73152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984248"/>
            <a:ext cx="3218688" cy="37947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050" b="1">
                <a:solidFill>
                  <a:srgbClr val="047857"/>
                </a:solidFill>
                <a:latin typeface="Segoe UI"/>
              </a:rPr>
              <a:t>POINT 01</a:t>
            </a:r>
          </a:p>
          <a:p>
            <a:pPr>
              <a:spcBef>
                <a:spcPts val="600"/>
              </a:spcBef>
            </a:pPr>
            <a:r>
              <a:rPr sz="1900" b="1">
                <a:solidFill>
                  <a:srgbClr val="064E3B"/>
                </a:solidFill>
                <a:latin typeface="Segoe UI"/>
              </a:rPr>
              <a:t>1. Live Ingestion</a:t>
            </a:r>
          </a:p>
          <a:p>
            <a:pPr>
              <a:spcBef>
                <a:spcPts val="2200"/>
              </a:spcBef>
            </a:pPr>
            <a:r>
              <a:rPr sz="1350" b="1">
                <a:solidFill>
                  <a:srgbClr val="064E3B"/>
                </a:solidFill>
                <a:latin typeface="Segoe UI"/>
              </a:rPr>
              <a:t>✔ Live Vitals Stream:</a:t>
            </a:r>
            <a:r>
              <a:rPr sz="1300">
                <a:solidFill>
                  <a:srgbClr val="64748B"/>
                </a:solidFill>
                <a:latin typeface="Segoe UI"/>
              </a:rPr>
              <a:t> Ingests HR, BP, SpO2, and GCS signals</a:t>
            </a:r>
          </a:p>
          <a:p>
            <a:pPr>
              <a:spcBef>
                <a:spcPts val="2200"/>
              </a:spcBef>
            </a:pPr>
            <a:r>
              <a:rPr sz="1350" b="1">
                <a:solidFill>
                  <a:srgbClr val="064E3B"/>
                </a:solidFill>
                <a:latin typeface="Segoe UI"/>
              </a:rPr>
              <a:t>✔ Data Cleaning:</a:t>
            </a:r>
            <a:r>
              <a:rPr sz="1300">
                <a:solidFill>
                  <a:srgbClr val="64748B"/>
                </a:solidFill>
                <a:latin typeface="Segoe UI"/>
              </a:rPr>
              <a:t> Outlier filtering &amp; z-score normalization</a:t>
            </a:r>
          </a:p>
          <a:p>
            <a:pPr>
              <a:spcBef>
                <a:spcPts val="2200"/>
              </a:spcBef>
            </a:pPr>
            <a:r>
              <a:rPr sz="1350" b="1">
                <a:solidFill>
                  <a:srgbClr val="064E3B"/>
                </a:solidFill>
                <a:latin typeface="Segoe UI"/>
              </a:rPr>
              <a:t>✔ Instant Vector:</a:t>
            </a:r>
            <a:r>
              <a:rPr sz="1300">
                <a:solidFill>
                  <a:srgbClr val="64748B"/>
                </a:solidFill>
                <a:latin typeface="Segoe UI"/>
              </a:rPr>
              <a:t> 14 clinical features prepped in &lt; 0.1ms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5815584"/>
            <a:ext cx="3291840" cy="310896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36576"/>
          <a:lstStyle/>
          <a:p>
            <a:pPr algn="ctr"/>
            <a:r>
              <a:rPr sz="950" b="1">
                <a:solidFill>
                  <a:srgbClr val="059669"/>
                </a:solidFill>
                <a:latin typeface="Segoe UI"/>
              </a:rPr>
              <a:t>Step 1: Live Ingestion &amp; Cleaning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84878" y="1783080"/>
            <a:ext cx="3621024" cy="4434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284878" y="1783080"/>
            <a:ext cx="3621024" cy="73152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6046" y="1984248"/>
            <a:ext cx="3218688" cy="37947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050" b="1">
                <a:solidFill>
                  <a:srgbClr val="047857"/>
                </a:solidFill>
                <a:latin typeface="Segoe UI"/>
              </a:rPr>
              <a:t>POINT 02</a:t>
            </a:r>
          </a:p>
          <a:p>
            <a:pPr>
              <a:spcBef>
                <a:spcPts val="600"/>
              </a:spcBef>
            </a:pPr>
            <a:r>
              <a:rPr sz="1900" b="1">
                <a:solidFill>
                  <a:srgbClr val="064E3B"/>
                </a:solidFill>
                <a:latin typeface="Segoe UI"/>
              </a:rPr>
              <a:t>2. Calibrated ML Inference</a:t>
            </a:r>
          </a:p>
          <a:p>
            <a:pPr>
              <a:spcBef>
                <a:spcPts val="2200"/>
              </a:spcBef>
            </a:pPr>
            <a:r>
              <a:rPr sz="1350" b="1">
                <a:solidFill>
                  <a:srgbClr val="064E3B"/>
                </a:solidFill>
                <a:latin typeface="Segoe UI"/>
              </a:rPr>
              <a:t>✔ Random Forest (150 Trees):</a:t>
            </a:r>
            <a:r>
              <a:rPr sz="1300">
                <a:solidFill>
                  <a:srgbClr val="64748B"/>
                </a:solidFill>
                <a:latin typeface="Segoe UI"/>
              </a:rPr>
              <a:t> Champion 0.985 ROC-AUC score</a:t>
            </a:r>
          </a:p>
          <a:p>
            <a:pPr>
              <a:spcBef>
                <a:spcPts val="2200"/>
              </a:spcBef>
            </a:pPr>
            <a:r>
              <a:rPr sz="1350" b="1">
                <a:solidFill>
                  <a:srgbClr val="064E3B"/>
                </a:solidFill>
                <a:latin typeface="Segoe UI"/>
              </a:rPr>
              <a:t>✔ Platt Scaling:</a:t>
            </a:r>
            <a:r>
              <a:rPr sz="1300">
                <a:solidFill>
                  <a:srgbClr val="64748B"/>
                </a:solidFill>
                <a:latin typeface="Segoe UI"/>
              </a:rPr>
              <a:t> True probabilities (0.0027 Brier error)</a:t>
            </a:r>
          </a:p>
          <a:p>
            <a:pPr>
              <a:spcBef>
                <a:spcPts val="2200"/>
              </a:spcBef>
            </a:pPr>
            <a:r>
              <a:rPr sz="1350" b="1">
                <a:solidFill>
                  <a:srgbClr val="064E3B"/>
                </a:solidFill>
                <a:latin typeface="Segoe UI"/>
              </a:rPr>
              <a:t>✔ 0.136ms CPU Speed:</a:t>
            </a:r>
            <a:r>
              <a:rPr sz="1300">
                <a:solidFill>
                  <a:srgbClr val="64748B"/>
                </a:solidFill>
                <a:latin typeface="Segoe UI"/>
              </a:rPr>
              <a:t> Ultra-fast with zero GPU cost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49470" y="5815584"/>
            <a:ext cx="3291840" cy="310896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36576"/>
          <a:lstStyle/>
          <a:p>
            <a:pPr algn="ctr"/>
            <a:r>
              <a:rPr sz="950" b="1">
                <a:solidFill>
                  <a:srgbClr val="059669"/>
                </a:solidFill>
                <a:latin typeface="Segoe UI"/>
              </a:rPr>
              <a:t>Step 2: 0.136ms CPU ML Prediction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12556" y="1783080"/>
            <a:ext cx="3621024" cy="4434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112556" y="1783080"/>
            <a:ext cx="3621024" cy="73152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13724" y="1984248"/>
            <a:ext cx="3218688" cy="37947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050" b="1">
                <a:solidFill>
                  <a:srgbClr val="047857"/>
                </a:solidFill>
                <a:latin typeface="Segoe UI"/>
              </a:rPr>
              <a:t>POINT 03</a:t>
            </a:r>
          </a:p>
          <a:p>
            <a:pPr>
              <a:spcBef>
                <a:spcPts val="600"/>
              </a:spcBef>
            </a:pPr>
            <a:r>
              <a:rPr sz="1900" b="1">
                <a:solidFill>
                  <a:srgbClr val="064E3B"/>
                </a:solidFill>
                <a:latin typeface="Segoe UI"/>
              </a:rPr>
              <a:t>3. TreeSHAP &amp; Safety</a:t>
            </a:r>
          </a:p>
          <a:p>
            <a:pPr>
              <a:spcBef>
                <a:spcPts val="2200"/>
              </a:spcBef>
            </a:pPr>
            <a:r>
              <a:rPr sz="1350" b="1">
                <a:solidFill>
                  <a:srgbClr val="064E3B"/>
                </a:solidFill>
                <a:latin typeface="Segoe UI"/>
              </a:rPr>
              <a:t>✔ TreeSHAP in &lt; 12ms:</a:t>
            </a:r>
            <a:r>
              <a:rPr sz="1300">
                <a:solidFill>
                  <a:srgbClr val="64748B"/>
                </a:solidFill>
                <a:latin typeface="Segoe UI"/>
              </a:rPr>
              <a:t> Breaks down exact biomarker hazard drivers</a:t>
            </a:r>
          </a:p>
          <a:p>
            <a:pPr>
              <a:spcBef>
                <a:spcPts val="2200"/>
              </a:spcBef>
            </a:pPr>
            <a:r>
              <a:rPr sz="1350" b="1">
                <a:solidFill>
                  <a:srgbClr val="064E3B"/>
                </a:solidFill>
                <a:latin typeface="Segoe UI"/>
              </a:rPr>
              <a:t>✔ Emergency Overrides:</a:t>
            </a:r>
            <a:r>
              <a:rPr sz="1300">
                <a:solidFill>
                  <a:srgbClr val="64748B"/>
                </a:solidFill>
                <a:latin typeface="Segoe UI"/>
              </a:rPr>
              <a:t> qSOFA &gt;= 2 &amp; NEWS2 &gt;= 5 trigger alerts</a:t>
            </a:r>
          </a:p>
          <a:p>
            <a:pPr>
              <a:spcBef>
                <a:spcPts val="2200"/>
              </a:spcBef>
            </a:pPr>
            <a:r>
              <a:rPr sz="1350" b="1">
                <a:solidFill>
                  <a:srgbClr val="064E3B"/>
                </a:solidFill>
                <a:latin typeface="Segoe UI"/>
              </a:rPr>
              <a:t>✔ Uncertainty Guard:</a:t>
            </a:r>
            <a:r>
              <a:rPr sz="1300">
                <a:solidFill>
                  <a:srgbClr val="64748B"/>
                </a:solidFill>
                <a:latin typeface="Segoe UI"/>
              </a:rPr>
              <a:t> Flags review if entropy &gt; 0.65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77148" y="5815584"/>
            <a:ext cx="3291840" cy="310896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36576"/>
          <a:lstStyle/>
          <a:p>
            <a:pPr algn="ctr"/>
            <a:r>
              <a:rPr sz="950" b="1">
                <a:solidFill>
                  <a:srgbClr val="059669"/>
                </a:solidFill>
                <a:latin typeface="Segoe UI"/>
              </a:rPr>
              <a:t>Step 3: TreeSHAP XAI &amp; Overrides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382512"/>
            <a:ext cx="11277295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>
                <a:solidFill>
                  <a:srgbClr val="64748B"/>
                </a:solidFill>
                <a:latin typeface="Segoe UI"/>
              </a:rPr>
              <a:t>HealthNova AI  •  Assistive Intelligence Only  •  Human-in-the-Loop Clinician Sign-Off Mandated  •  21 CFR Part 11 Aligned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933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274320"/>
            <a:ext cx="4114800" cy="32918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9D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36576"/>
          <a:lstStyle/>
          <a:p>
            <a:pPr algn="ctr"/>
            <a:r>
              <a:rPr sz="950" b="1">
                <a:solidFill>
                  <a:srgbClr val="7E22CE"/>
                </a:solidFill>
                <a:latin typeface="Segoe UI"/>
              </a:rPr>
              <a:t>SECTION 4 / 6  •  4) TECHNOLOGIES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0" y="274320"/>
            <a:ext cx="5150815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64748B"/>
                </a:solidFill>
                <a:latin typeface="Segoe UI"/>
              </a:rPr>
              <a:t>BPY-CSE-2666 • HealthNova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1277295" cy="10058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2400" b="1">
                <a:solidFill>
                  <a:srgbClr val="581C87"/>
                </a:solidFill>
                <a:latin typeface="Segoe UI"/>
              </a:rPr>
              <a:t>4) Technologies — Core Stack</a:t>
            </a:r>
          </a:p>
          <a:p>
            <a:pPr>
              <a:spcBef>
                <a:spcPts val="200"/>
              </a:spcBef>
            </a:pPr>
            <a:r>
              <a:rPr sz="1200" b="1">
                <a:solidFill>
                  <a:srgbClr val="7E22CE"/>
                </a:solidFill>
                <a:latin typeface="Segoe UI"/>
              </a:rPr>
              <a:t>Modern Full-Stack Ecosystem</a:t>
            </a:r>
          </a:p>
          <a:p>
            <a:pPr>
              <a:spcBef>
                <a:spcPts val="200"/>
              </a:spcBef>
            </a:pPr>
            <a:r>
              <a:rPr sz="1050" b="1">
                <a:solidFill>
                  <a:srgbClr val="64748B"/>
                </a:solidFill>
                <a:latin typeface="Segoe UI"/>
              </a:rPr>
              <a:t>💡 Key Takeaway: Production-grade stack built for sub-second performance, explainability, and security.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783080"/>
            <a:ext cx="3621024" cy="4434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9D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1783080"/>
            <a:ext cx="3621024" cy="73152"/>
          </a:xfrm>
          <a:prstGeom prst="roundRect">
            <a:avLst/>
          </a:prstGeom>
          <a:solidFill>
            <a:srgbClr val="933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984248"/>
            <a:ext cx="3218688" cy="37947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050" b="1">
                <a:solidFill>
                  <a:srgbClr val="7E22CE"/>
                </a:solidFill>
                <a:latin typeface="Segoe UI"/>
              </a:rPr>
              <a:t>POINT 01</a:t>
            </a:r>
          </a:p>
          <a:p>
            <a:pPr>
              <a:spcBef>
                <a:spcPts val="600"/>
              </a:spcBef>
            </a:pPr>
            <a:r>
              <a:rPr sz="1900" b="1">
                <a:solidFill>
                  <a:srgbClr val="581C87"/>
                </a:solidFill>
                <a:latin typeface="Segoe UI"/>
              </a:rPr>
              <a:t>Backend &amp; Streaming</a:t>
            </a:r>
          </a:p>
          <a:p>
            <a:pPr>
              <a:spcBef>
                <a:spcPts val="2200"/>
              </a:spcBef>
            </a:pPr>
            <a:r>
              <a:rPr sz="1350" b="1">
                <a:solidFill>
                  <a:srgbClr val="581C87"/>
                </a:solidFill>
                <a:latin typeface="Segoe UI"/>
              </a:rPr>
              <a:t>✔ Python 3.13:</a:t>
            </a:r>
            <a:r>
              <a:rPr sz="1300">
                <a:solidFill>
                  <a:srgbClr val="64748B"/>
                </a:solidFill>
                <a:latin typeface="Segoe UI"/>
              </a:rPr>
              <a:t> Core high-performance programming runtime</a:t>
            </a:r>
          </a:p>
          <a:p>
            <a:pPr>
              <a:spcBef>
                <a:spcPts val="2200"/>
              </a:spcBef>
            </a:pPr>
            <a:r>
              <a:rPr sz="1350" b="1">
                <a:solidFill>
                  <a:srgbClr val="581C87"/>
                </a:solidFill>
                <a:latin typeface="Segoe UI"/>
              </a:rPr>
              <a:t>✔ Django 5 &amp; Daphne:</a:t>
            </a:r>
            <a:r>
              <a:rPr sz="1300">
                <a:solidFill>
                  <a:srgbClr val="64748B"/>
                </a:solidFill>
                <a:latin typeface="Segoe UI"/>
              </a:rPr>
              <a:t> ASGI real-time WebSocket server</a:t>
            </a:r>
          </a:p>
          <a:p>
            <a:pPr>
              <a:spcBef>
                <a:spcPts val="2200"/>
              </a:spcBef>
            </a:pPr>
            <a:r>
              <a:rPr sz="1350" b="1">
                <a:solidFill>
                  <a:srgbClr val="581C87"/>
                </a:solidFill>
                <a:latin typeface="Segoe UI"/>
              </a:rPr>
              <a:t>✔ Redis 7 &amp; Celery:</a:t>
            </a:r>
            <a:r>
              <a:rPr sz="1300">
                <a:solidFill>
                  <a:srgbClr val="64748B"/>
                </a:solidFill>
                <a:latin typeface="Segoe UI"/>
              </a:rPr>
              <a:t> In-memory pub/sub and task workers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5815584"/>
            <a:ext cx="3291840" cy="310896"/>
          </a:xfrm>
          <a:prstGeom prst="roundRect">
            <a:avLst/>
          </a:prstGeom>
          <a:solidFill>
            <a:srgbClr val="FAF5FF"/>
          </a:solidFill>
          <a:ln w="12700">
            <a:solidFill>
              <a:srgbClr val="E9D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36576"/>
          <a:lstStyle/>
          <a:p>
            <a:pPr algn="ctr"/>
            <a:r>
              <a:rPr sz="950" b="1">
                <a:solidFill>
                  <a:srgbClr val="9333EA"/>
                </a:solidFill>
                <a:latin typeface="Segoe UI"/>
              </a:rPr>
              <a:t>Backend: Python 3.13 • Daphne • Redis 7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84878" y="1783080"/>
            <a:ext cx="3621024" cy="4434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9D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284878" y="1783080"/>
            <a:ext cx="3621024" cy="73152"/>
          </a:xfrm>
          <a:prstGeom prst="roundRect">
            <a:avLst/>
          </a:prstGeom>
          <a:solidFill>
            <a:srgbClr val="933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6046" y="1984248"/>
            <a:ext cx="3218688" cy="37947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050" b="1">
                <a:solidFill>
                  <a:srgbClr val="7E22CE"/>
                </a:solidFill>
                <a:latin typeface="Segoe UI"/>
              </a:rPr>
              <a:t>POINT 02</a:t>
            </a:r>
          </a:p>
          <a:p>
            <a:pPr>
              <a:spcBef>
                <a:spcPts val="600"/>
              </a:spcBef>
            </a:pPr>
            <a:r>
              <a:rPr sz="1900" b="1">
                <a:solidFill>
                  <a:srgbClr val="581C87"/>
                </a:solidFill>
                <a:latin typeface="Segoe UI"/>
              </a:rPr>
              <a:t>AI &amp; Explainability</a:t>
            </a:r>
          </a:p>
          <a:p>
            <a:pPr>
              <a:spcBef>
                <a:spcPts val="2200"/>
              </a:spcBef>
            </a:pPr>
            <a:r>
              <a:rPr sz="1350" b="1">
                <a:solidFill>
                  <a:srgbClr val="581C87"/>
                </a:solidFill>
                <a:latin typeface="Segoe UI"/>
              </a:rPr>
              <a:t>✔ Scikit-Learn:</a:t>
            </a:r>
            <a:r>
              <a:rPr sz="1300">
                <a:solidFill>
                  <a:srgbClr val="64748B"/>
                </a:solidFill>
                <a:latin typeface="Segoe UI"/>
              </a:rPr>
              <a:t> 150-tree Random Forest classifier engine</a:t>
            </a:r>
          </a:p>
          <a:p>
            <a:pPr>
              <a:spcBef>
                <a:spcPts val="2200"/>
              </a:spcBef>
            </a:pPr>
            <a:r>
              <a:rPr sz="1350" b="1">
                <a:solidFill>
                  <a:srgbClr val="581C87"/>
                </a:solidFill>
                <a:latin typeface="Segoe UI"/>
              </a:rPr>
              <a:t>✔ Platt Calibration:</a:t>
            </a:r>
            <a:r>
              <a:rPr sz="1300">
                <a:solidFill>
                  <a:srgbClr val="64748B"/>
                </a:solidFill>
                <a:latin typeface="Segoe UI"/>
              </a:rPr>
              <a:t> Multi-class probability scaling module</a:t>
            </a:r>
          </a:p>
          <a:p>
            <a:pPr>
              <a:spcBef>
                <a:spcPts val="2200"/>
              </a:spcBef>
            </a:pPr>
            <a:r>
              <a:rPr sz="1350" b="1">
                <a:solidFill>
                  <a:srgbClr val="581C87"/>
                </a:solidFill>
                <a:latin typeface="Segoe UI"/>
              </a:rPr>
              <a:t>✔ TreeSHAP (shap):</a:t>
            </a:r>
            <a:r>
              <a:rPr sz="1300">
                <a:solidFill>
                  <a:srgbClr val="64748B"/>
                </a:solidFill>
                <a:latin typeface="Segoe UI"/>
              </a:rPr>
              <a:t> Game-theoretic feature attribution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49470" y="5815584"/>
            <a:ext cx="3291840" cy="310896"/>
          </a:xfrm>
          <a:prstGeom prst="roundRect">
            <a:avLst/>
          </a:prstGeom>
          <a:solidFill>
            <a:srgbClr val="FAF5FF"/>
          </a:solidFill>
          <a:ln w="12700">
            <a:solidFill>
              <a:srgbClr val="E9D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36576"/>
          <a:lstStyle/>
          <a:p>
            <a:pPr algn="ctr"/>
            <a:r>
              <a:rPr sz="950" b="1">
                <a:solidFill>
                  <a:srgbClr val="9333EA"/>
                </a:solidFill>
                <a:latin typeface="Segoe UI"/>
              </a:rPr>
              <a:t>AI/ML: Scikit-Learn • TreeSHAP • Platt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12556" y="1783080"/>
            <a:ext cx="3621024" cy="4434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9D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112556" y="1783080"/>
            <a:ext cx="3621024" cy="73152"/>
          </a:xfrm>
          <a:prstGeom prst="roundRect">
            <a:avLst/>
          </a:prstGeom>
          <a:solidFill>
            <a:srgbClr val="933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13724" y="1984248"/>
            <a:ext cx="3218688" cy="37947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050" b="1">
                <a:solidFill>
                  <a:srgbClr val="7E22CE"/>
                </a:solidFill>
                <a:latin typeface="Segoe UI"/>
              </a:rPr>
              <a:t>POINT 03</a:t>
            </a:r>
          </a:p>
          <a:p>
            <a:pPr>
              <a:spcBef>
                <a:spcPts val="600"/>
              </a:spcBef>
            </a:pPr>
            <a:r>
              <a:rPr sz="1900" b="1">
                <a:solidFill>
                  <a:srgbClr val="581C87"/>
                </a:solidFill>
                <a:latin typeface="Segoe UI"/>
              </a:rPr>
              <a:t>Frontend, DB &amp; DevOps</a:t>
            </a:r>
          </a:p>
          <a:p>
            <a:pPr>
              <a:spcBef>
                <a:spcPts val="2200"/>
              </a:spcBef>
            </a:pPr>
            <a:r>
              <a:rPr sz="1350" b="1">
                <a:solidFill>
                  <a:srgbClr val="581C87"/>
                </a:solidFill>
                <a:latin typeface="Segoe UI"/>
              </a:rPr>
              <a:t>✔ Next.js 16.3 &amp; React 19:</a:t>
            </a:r>
            <a:r>
              <a:rPr sz="1300">
                <a:solidFill>
                  <a:srgbClr val="64748B"/>
                </a:solidFill>
                <a:latin typeface="Segoe UI"/>
              </a:rPr>
              <a:t> Turbopack SSR/CSR workspaces</a:t>
            </a:r>
          </a:p>
          <a:p>
            <a:pPr>
              <a:spcBef>
                <a:spcPts val="2200"/>
              </a:spcBef>
            </a:pPr>
            <a:r>
              <a:rPr sz="1350" b="1">
                <a:solidFill>
                  <a:srgbClr val="581C87"/>
                </a:solidFill>
                <a:latin typeface="Segoe UI"/>
              </a:rPr>
              <a:t>✔ Neon PostgreSQL 16:</a:t>
            </a:r>
            <a:r>
              <a:rPr sz="1300">
                <a:solidFill>
                  <a:srgbClr val="64748B"/>
                </a:solidFill>
                <a:latin typeface="Segoe UI"/>
              </a:rPr>
              <a:t> Serverless cloud DB with pgvector</a:t>
            </a:r>
          </a:p>
          <a:p>
            <a:pPr>
              <a:spcBef>
                <a:spcPts val="2200"/>
              </a:spcBef>
            </a:pPr>
            <a:r>
              <a:rPr sz="1350" b="1">
                <a:solidFill>
                  <a:srgbClr val="581C87"/>
                </a:solidFill>
                <a:latin typeface="Segoe UI"/>
              </a:rPr>
              <a:t>✔ Docker Microservices:</a:t>
            </a:r>
            <a:r>
              <a:rPr sz="1300">
                <a:solidFill>
                  <a:srgbClr val="64748B"/>
                </a:solidFill>
                <a:latin typeface="Segoe UI"/>
              </a:rPr>
              <a:t> Multi-stage container builds (&lt; 180MB)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77148" y="5815584"/>
            <a:ext cx="3291840" cy="310896"/>
          </a:xfrm>
          <a:prstGeom prst="roundRect">
            <a:avLst/>
          </a:prstGeom>
          <a:solidFill>
            <a:srgbClr val="FAF5FF"/>
          </a:solidFill>
          <a:ln w="12700">
            <a:solidFill>
              <a:srgbClr val="E9D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36576"/>
          <a:lstStyle/>
          <a:p>
            <a:pPr algn="ctr"/>
            <a:r>
              <a:rPr sz="950" b="1">
                <a:solidFill>
                  <a:srgbClr val="9333EA"/>
                </a:solidFill>
                <a:latin typeface="Segoe UI"/>
              </a:rPr>
              <a:t>Client/DB: Next.js 16 • Neon PG • Docker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382512"/>
            <a:ext cx="11277295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>
                <a:solidFill>
                  <a:srgbClr val="64748B"/>
                </a:solidFill>
                <a:latin typeface="Segoe UI"/>
              </a:rPr>
              <a:t>HealthNova AI  •  Assistive Intelligence Only  •  Human-in-the-Loop Clinician Sign-Off Mandated  •  21 CFR Part 11 Aligned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274320"/>
            <a:ext cx="4114800" cy="32918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36576"/>
          <a:lstStyle/>
          <a:p>
            <a:pPr algn="ctr"/>
            <a:r>
              <a:rPr sz="950" b="1">
                <a:solidFill>
                  <a:srgbClr val="0284C7"/>
                </a:solidFill>
                <a:latin typeface="Segoe UI"/>
              </a:rPr>
              <a:t>SECTION 5 / 6  •  5)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0" y="274320"/>
            <a:ext cx="5150815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64748B"/>
                </a:solidFill>
                <a:latin typeface="Segoe UI"/>
              </a:rPr>
              <a:t>BPY-CSE-2666 • HealthNova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1277295" cy="10058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2400" b="1">
                <a:solidFill>
                  <a:srgbClr val="0C4A6E"/>
                </a:solidFill>
                <a:latin typeface="Segoe UI"/>
              </a:rPr>
              <a:t>5) Workflow — Care Pathway</a:t>
            </a:r>
          </a:p>
          <a:p>
            <a:pPr>
              <a:spcBef>
                <a:spcPts val="200"/>
              </a:spcBef>
            </a:pPr>
            <a:r>
              <a:rPr sz="1200" b="1">
                <a:solidFill>
                  <a:srgbClr val="0284C7"/>
                </a:solidFill>
                <a:latin typeface="Segoe UI"/>
              </a:rPr>
              <a:t>From Emergency Intake to Doctor Review &amp; MLOps Audit</a:t>
            </a:r>
          </a:p>
          <a:p>
            <a:pPr>
              <a:spcBef>
                <a:spcPts val="200"/>
              </a:spcBef>
            </a:pPr>
            <a:r>
              <a:rPr sz="1050" b="1">
                <a:solidFill>
                  <a:srgbClr val="64748B"/>
                </a:solidFill>
                <a:latin typeface="Segoe UI"/>
              </a:rPr>
              <a:t>💡 Key Takeaway: Closed-loop care pathway connecting Nurse Triage, AI Ingestion, Doctor Review, and MLOps.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783080"/>
            <a:ext cx="3621024" cy="4434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1783080"/>
            <a:ext cx="3621024" cy="73152"/>
          </a:xfrm>
          <a:prstGeom prst="round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984248"/>
            <a:ext cx="3218688" cy="37947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050" b="1">
                <a:solidFill>
                  <a:srgbClr val="0284C7"/>
                </a:solidFill>
                <a:latin typeface="Segoe UI"/>
              </a:rPr>
              <a:t>POINT 01</a:t>
            </a:r>
          </a:p>
          <a:p>
            <a:pPr>
              <a:spcBef>
                <a:spcPts val="600"/>
              </a:spcBef>
            </a:pPr>
            <a:r>
              <a:rPr sz="1900" b="1">
                <a:solidFill>
                  <a:srgbClr val="0C4A6E"/>
                </a:solidFill>
                <a:latin typeface="Segoe UI"/>
              </a:rPr>
              <a:t>Phase 1: Nurse Triage</a:t>
            </a:r>
          </a:p>
          <a:p>
            <a:pPr>
              <a:spcBef>
                <a:spcPts val="2200"/>
              </a:spcBef>
            </a:pPr>
            <a:r>
              <a:rPr sz="1350" b="1">
                <a:solidFill>
                  <a:srgbClr val="0C4A6E"/>
                </a:solidFill>
                <a:latin typeface="Segoe UI"/>
              </a:rPr>
              <a:t>✔ &lt; 45s Vital Intake:</a:t>
            </a:r>
            <a:r>
              <a:rPr sz="1300">
                <a:solidFill>
                  <a:srgbClr val="64748B"/>
                </a:solidFill>
                <a:latin typeface="Segoe UI"/>
              </a:rPr>
              <a:t> Rapid bedside data entry (/nurse)</a:t>
            </a:r>
          </a:p>
          <a:p>
            <a:pPr>
              <a:spcBef>
                <a:spcPts val="2200"/>
              </a:spcBef>
            </a:pPr>
            <a:r>
              <a:rPr sz="1350" b="1">
                <a:solidFill>
                  <a:srgbClr val="0C4A6E"/>
                </a:solidFill>
                <a:latin typeface="Segoe UI"/>
              </a:rPr>
              <a:t>✔ Automated ESI Triage:</a:t>
            </a:r>
            <a:r>
              <a:rPr sz="1300">
                <a:solidFill>
                  <a:srgbClr val="64748B"/>
                </a:solidFill>
                <a:latin typeface="Segoe UI"/>
              </a:rPr>
              <a:t> Immediate 5-level acuity assignment</a:t>
            </a:r>
          </a:p>
          <a:p>
            <a:pPr>
              <a:spcBef>
                <a:spcPts val="2200"/>
              </a:spcBef>
            </a:pPr>
            <a:r>
              <a:rPr sz="1350" b="1">
                <a:solidFill>
                  <a:srgbClr val="0C4A6E"/>
                </a:solidFill>
                <a:latin typeface="Segoe UI"/>
              </a:rPr>
              <a:t>✔ Direct Live Push:</a:t>
            </a:r>
            <a:r>
              <a:rPr sz="1300">
                <a:solidFill>
                  <a:srgbClr val="64748B"/>
                </a:solidFill>
                <a:latin typeface="Segoe UI"/>
              </a:rPr>
              <a:t> Streams vitals to ICU monitor grid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5815584"/>
            <a:ext cx="3291840" cy="310896"/>
          </a:xfrm>
          <a:prstGeom prst="roundRect">
            <a:avLst/>
          </a:prstGeom>
          <a:solidFill>
            <a:srgbClr val="F0F9FF"/>
          </a:solidFill>
          <a:ln w="1270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36576"/>
          <a:lstStyle/>
          <a:p>
            <a:pPr algn="ctr"/>
            <a:r>
              <a:rPr sz="950" b="1">
                <a:solidFill>
                  <a:srgbClr val="0369A1"/>
                </a:solidFill>
                <a:latin typeface="Segoe UI"/>
              </a:rPr>
              <a:t>Phase 1: Bedside Nurse Intake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84878" y="1783080"/>
            <a:ext cx="3621024" cy="4434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284878" y="1783080"/>
            <a:ext cx="3621024" cy="73152"/>
          </a:xfrm>
          <a:prstGeom prst="round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6046" y="1984248"/>
            <a:ext cx="3218688" cy="37947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050" b="1">
                <a:solidFill>
                  <a:srgbClr val="0284C7"/>
                </a:solidFill>
                <a:latin typeface="Segoe UI"/>
              </a:rPr>
              <a:t>POINT 02</a:t>
            </a:r>
          </a:p>
          <a:p>
            <a:pPr>
              <a:spcBef>
                <a:spcPts val="600"/>
              </a:spcBef>
            </a:pPr>
            <a:r>
              <a:rPr sz="1900" b="1">
                <a:solidFill>
                  <a:srgbClr val="0C4A6E"/>
                </a:solidFill>
                <a:latin typeface="Segoe UI"/>
              </a:rPr>
              <a:t>Phase 2: AI Evaluation</a:t>
            </a:r>
          </a:p>
          <a:p>
            <a:pPr>
              <a:spcBef>
                <a:spcPts val="2200"/>
              </a:spcBef>
            </a:pPr>
            <a:r>
              <a:rPr sz="1350" b="1">
                <a:solidFill>
                  <a:srgbClr val="0C4A6E"/>
                </a:solidFill>
                <a:latin typeface="Segoe UI"/>
              </a:rPr>
              <a:t>✔ Zero-PHI Minimizer:</a:t>
            </a:r>
            <a:r>
              <a:rPr sz="1300">
                <a:solidFill>
                  <a:srgbClr val="64748B"/>
                </a:solidFill>
                <a:latin typeface="Segoe UI"/>
              </a:rPr>
              <a:t> Strips patient identity for privacy</a:t>
            </a:r>
          </a:p>
          <a:p>
            <a:pPr>
              <a:spcBef>
                <a:spcPts val="2200"/>
              </a:spcBef>
            </a:pPr>
            <a:r>
              <a:rPr sz="1350" b="1">
                <a:solidFill>
                  <a:srgbClr val="0C4A6E"/>
                </a:solidFill>
                <a:latin typeface="Segoe UI"/>
              </a:rPr>
              <a:t>✔ Sub-Millisecond Risk:</a:t>
            </a:r>
            <a:r>
              <a:rPr sz="1300">
                <a:solidFill>
                  <a:srgbClr val="64748B"/>
                </a:solidFill>
                <a:latin typeface="Segoe UI"/>
              </a:rPr>
              <a:t> 4-tier acuity calculated in 0.136ms</a:t>
            </a:r>
          </a:p>
          <a:p>
            <a:pPr>
              <a:spcBef>
                <a:spcPts val="2200"/>
              </a:spcBef>
            </a:pPr>
            <a:r>
              <a:rPr sz="1350" b="1">
                <a:solidFill>
                  <a:srgbClr val="0C4A6E"/>
                </a:solidFill>
                <a:latin typeface="Segoe UI"/>
              </a:rPr>
              <a:t>✔ Safety Rule Engine:</a:t>
            </a:r>
            <a:r>
              <a:rPr sz="1300">
                <a:solidFill>
                  <a:srgbClr val="64748B"/>
                </a:solidFill>
                <a:latin typeface="Segoe UI"/>
              </a:rPr>
              <a:t> Deterministic qSOFA &amp; NEWS2 check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49470" y="5815584"/>
            <a:ext cx="3291840" cy="310896"/>
          </a:xfrm>
          <a:prstGeom prst="roundRect">
            <a:avLst/>
          </a:prstGeom>
          <a:solidFill>
            <a:srgbClr val="F0F9FF"/>
          </a:solidFill>
          <a:ln w="1270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36576"/>
          <a:lstStyle/>
          <a:p>
            <a:pPr algn="ctr"/>
            <a:r>
              <a:rPr sz="950" b="1">
                <a:solidFill>
                  <a:srgbClr val="0369A1"/>
                </a:solidFill>
                <a:latin typeface="Segoe UI"/>
              </a:rPr>
              <a:t>Phase 2: Swarm Ingestion &amp; Evaluation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12556" y="1783080"/>
            <a:ext cx="3621024" cy="4434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112556" y="1783080"/>
            <a:ext cx="3621024" cy="73152"/>
          </a:xfrm>
          <a:prstGeom prst="round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13724" y="1984248"/>
            <a:ext cx="3218688" cy="37947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050" b="1">
                <a:solidFill>
                  <a:srgbClr val="0284C7"/>
                </a:solidFill>
                <a:latin typeface="Segoe UI"/>
              </a:rPr>
              <a:t>POINT 03</a:t>
            </a:r>
          </a:p>
          <a:p>
            <a:pPr>
              <a:spcBef>
                <a:spcPts val="600"/>
              </a:spcBef>
            </a:pPr>
            <a:r>
              <a:rPr sz="1900" b="1">
                <a:solidFill>
                  <a:srgbClr val="0C4A6E"/>
                </a:solidFill>
                <a:latin typeface="Segoe UI"/>
              </a:rPr>
              <a:t>Phase 3: Doctor &amp; MLOps</a:t>
            </a:r>
          </a:p>
          <a:p>
            <a:pPr>
              <a:spcBef>
                <a:spcPts val="2200"/>
              </a:spcBef>
            </a:pPr>
            <a:r>
              <a:rPr sz="1350" b="1">
                <a:solidFill>
                  <a:srgbClr val="0C4A6E"/>
                </a:solidFill>
                <a:latin typeface="Segoe UI"/>
              </a:rPr>
              <a:t>✔ ICU Ward Grid (/doctor):</a:t>
            </a:r>
            <a:r>
              <a:rPr sz="1300">
                <a:solidFill>
                  <a:srgbClr val="64748B"/>
                </a:solidFill>
                <a:latin typeface="Segoe UI"/>
              </a:rPr>
              <a:t> Attending doctor reviews live ECG</a:t>
            </a:r>
          </a:p>
          <a:p>
            <a:pPr>
              <a:spcBef>
                <a:spcPts val="2200"/>
              </a:spcBef>
            </a:pPr>
            <a:r>
              <a:rPr sz="1350" b="1">
                <a:solidFill>
                  <a:srgbClr val="0C4A6E"/>
                </a:solidFill>
                <a:latin typeface="Segoe UI"/>
              </a:rPr>
              <a:t>✔ 100% Human Sign-Off:</a:t>
            </a:r>
            <a:r>
              <a:rPr sz="1300">
                <a:solidFill>
                  <a:srgbClr val="64748B"/>
                </a:solidFill>
                <a:latin typeface="Segoe UI"/>
              </a:rPr>
              <a:t> Mandatory clinician verification</a:t>
            </a:r>
          </a:p>
          <a:p>
            <a:pPr>
              <a:spcBef>
                <a:spcPts val="2200"/>
              </a:spcBef>
            </a:pPr>
            <a:r>
              <a:rPr sz="1350" b="1">
                <a:solidFill>
                  <a:srgbClr val="0C4A6E"/>
                </a:solidFill>
                <a:latin typeface="Segoe UI"/>
              </a:rPr>
              <a:t>✔ MLOps Drift Audit:</a:t>
            </a:r>
            <a:r>
              <a:rPr sz="1300">
                <a:solidFill>
                  <a:srgbClr val="64748B"/>
                </a:solidFill>
                <a:latin typeface="Segoe UI"/>
              </a:rPr>
              <a:t> Continuous PSI &lt; 0.1 covariate monitoring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77148" y="5815584"/>
            <a:ext cx="3291840" cy="310896"/>
          </a:xfrm>
          <a:prstGeom prst="roundRect">
            <a:avLst/>
          </a:prstGeom>
          <a:solidFill>
            <a:srgbClr val="F0F9FF"/>
          </a:solidFill>
          <a:ln w="1270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36576"/>
          <a:lstStyle/>
          <a:p>
            <a:pPr algn="ctr"/>
            <a:r>
              <a:rPr sz="950" b="1">
                <a:solidFill>
                  <a:srgbClr val="0369A1"/>
                </a:solidFill>
                <a:latin typeface="Segoe UI"/>
              </a:rPr>
              <a:t>Phase 3: Human Sign-Off &amp; Audit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382512"/>
            <a:ext cx="11277295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>
                <a:solidFill>
                  <a:srgbClr val="64748B"/>
                </a:solidFill>
                <a:latin typeface="Segoe UI"/>
              </a:rPr>
              <a:t>HealthNova AI  •  Assistive Intelligence Only  •  Human-in-the-Loop Clinician Sign-Off Mandated  •  21 CFR Part 11 Aligned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274320"/>
            <a:ext cx="4114800" cy="32918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36576"/>
          <a:lstStyle/>
          <a:p>
            <a:pPr algn="ctr"/>
            <a:r>
              <a:rPr sz="950" b="1">
                <a:solidFill>
                  <a:srgbClr val="334155"/>
                </a:solidFill>
                <a:latin typeface="Segoe UI"/>
              </a:rPr>
              <a:t>SECTION 6 / 6  •  6) 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0" y="274320"/>
            <a:ext cx="5150815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64748B"/>
                </a:solidFill>
                <a:latin typeface="Segoe UI"/>
              </a:rPr>
              <a:t>BPY-CSE-2666 • HealthNova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1277295" cy="10058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2400" b="1">
                <a:solidFill>
                  <a:srgbClr val="0F172A"/>
                </a:solidFill>
                <a:latin typeface="Segoe UI"/>
              </a:rPr>
              <a:t>6) Conclusion — Key Results &amp; Scope</a:t>
            </a:r>
          </a:p>
          <a:p>
            <a:pPr>
              <a:spcBef>
                <a:spcPts val="200"/>
              </a:spcBef>
            </a:pPr>
            <a:r>
              <a:rPr sz="1200" b="1">
                <a:solidFill>
                  <a:srgbClr val="334155"/>
                </a:solidFill>
                <a:latin typeface="Segoe UI"/>
              </a:rPr>
              <a:t>Validated Breakthroughs, Doctor Sovereignty &amp; Next Steps</a:t>
            </a:r>
          </a:p>
          <a:p>
            <a:pPr>
              <a:spcBef>
                <a:spcPts val="200"/>
              </a:spcBef>
            </a:pPr>
            <a:r>
              <a:rPr sz="1050" b="1">
                <a:solidFill>
                  <a:srgbClr val="64748B"/>
                </a:solidFill>
                <a:latin typeface="Segoe UI"/>
              </a:rPr>
              <a:t>💡 Key Takeaway: HealthNova AI proves that fast, calibrated, explainable AI empowers doctors to save lives.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783080"/>
            <a:ext cx="3621024" cy="4434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1783080"/>
            <a:ext cx="3621024" cy="73152"/>
          </a:xfrm>
          <a:prstGeom prst="round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984248"/>
            <a:ext cx="3218688" cy="37947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050" b="1">
                <a:solidFill>
                  <a:srgbClr val="334155"/>
                </a:solidFill>
                <a:latin typeface="Segoe UI"/>
              </a:rPr>
              <a:t>POINT 01</a:t>
            </a:r>
          </a:p>
          <a:p>
            <a:pPr>
              <a:spcBef>
                <a:spcPts val="600"/>
              </a:spcBef>
            </a:pPr>
            <a:r>
              <a:rPr sz="1900" b="1">
                <a:solidFill>
                  <a:srgbClr val="0F172A"/>
                </a:solidFill>
                <a:latin typeface="Segoe UI"/>
              </a:rPr>
              <a:t>Key Achievements</a:t>
            </a:r>
          </a:p>
          <a:p>
            <a:pPr>
              <a:spcBef>
                <a:spcPts val="2200"/>
              </a:spcBef>
            </a:pPr>
            <a:r>
              <a:rPr sz="1350" b="1">
                <a:solidFill>
                  <a:srgbClr val="0F172A"/>
                </a:solidFill>
                <a:latin typeface="Segoe UI"/>
              </a:rPr>
              <a:t>✔ Champion 0.985 ROC-AUC:</a:t>
            </a:r>
            <a:r>
              <a:rPr sz="1300">
                <a:solidFill>
                  <a:srgbClr val="64748B"/>
                </a:solidFill>
                <a:latin typeface="Segoe UI"/>
              </a:rPr>
              <a:t> High precision on acute crises</a:t>
            </a:r>
          </a:p>
          <a:p>
            <a:pPr>
              <a:spcBef>
                <a:spcPts val="2200"/>
              </a:spcBef>
            </a:pPr>
            <a:r>
              <a:rPr sz="1350" b="1">
                <a:solidFill>
                  <a:srgbClr val="0F172A"/>
                </a:solidFill>
                <a:latin typeface="Segoe UI"/>
              </a:rPr>
              <a:t>✔ 0.136ms CPU Latency:</a:t>
            </a:r>
            <a:r>
              <a:rPr sz="1300">
                <a:solidFill>
                  <a:srgbClr val="64748B"/>
                </a:solidFill>
                <a:latin typeface="Segoe UI"/>
              </a:rPr>
              <a:t> Instant risk recalculation bedside</a:t>
            </a:r>
          </a:p>
          <a:p>
            <a:pPr>
              <a:spcBef>
                <a:spcPts val="2200"/>
              </a:spcBef>
            </a:pPr>
            <a:r>
              <a:rPr sz="1350" b="1">
                <a:solidFill>
                  <a:srgbClr val="0F172A"/>
                </a:solidFill>
                <a:latin typeface="Segoe UI"/>
              </a:rPr>
              <a:t>✔ Zero Alert Fatigue:</a:t>
            </a:r>
            <a:r>
              <a:rPr sz="1300">
                <a:solidFill>
                  <a:srgbClr val="64748B"/>
                </a:solidFill>
                <a:latin typeface="Segoe UI"/>
              </a:rPr>
              <a:t> Platt calibration eliminates false alarms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5815584"/>
            <a:ext cx="3291840" cy="310896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36576"/>
          <a:lstStyle/>
          <a:p>
            <a:pPr algn="ctr"/>
            <a:r>
              <a:rPr sz="950" b="1">
                <a:solidFill>
                  <a:srgbClr val="475569"/>
                </a:solidFill>
                <a:latin typeface="Segoe UI"/>
              </a:rPr>
              <a:t>Results: 0.985 ROC-AUC • 0.136ms Speed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84878" y="1783080"/>
            <a:ext cx="3621024" cy="4434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284878" y="1783080"/>
            <a:ext cx="3621024" cy="73152"/>
          </a:xfrm>
          <a:prstGeom prst="round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6046" y="1984248"/>
            <a:ext cx="3218688" cy="37947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050" b="1">
                <a:solidFill>
                  <a:srgbClr val="334155"/>
                </a:solidFill>
                <a:latin typeface="Segoe UI"/>
              </a:rPr>
              <a:t>POINT 02</a:t>
            </a:r>
          </a:p>
          <a:p>
            <a:pPr>
              <a:spcBef>
                <a:spcPts val="600"/>
              </a:spcBef>
            </a:pPr>
            <a:r>
              <a:rPr sz="1900" b="1">
                <a:solidFill>
                  <a:srgbClr val="0F172A"/>
                </a:solidFill>
                <a:latin typeface="Segoe UI"/>
              </a:rPr>
              <a:t>Safety &amp; Doctor Control</a:t>
            </a:r>
          </a:p>
          <a:p>
            <a:pPr>
              <a:spcBef>
                <a:spcPts val="2200"/>
              </a:spcBef>
            </a:pPr>
            <a:r>
              <a:rPr sz="1350" b="1">
                <a:solidFill>
                  <a:srgbClr val="0F172A"/>
                </a:solidFill>
                <a:latin typeface="Segoe UI"/>
              </a:rPr>
              <a:t>✔ 100% Doctor Authority:</a:t>
            </a:r>
            <a:r>
              <a:rPr sz="1300">
                <a:solidFill>
                  <a:srgbClr val="64748B"/>
                </a:solidFill>
                <a:latin typeface="Segoe UI"/>
              </a:rPr>
              <a:t> Zero autonomous prescriptions</a:t>
            </a:r>
          </a:p>
          <a:p>
            <a:pPr>
              <a:spcBef>
                <a:spcPts val="2200"/>
              </a:spcBef>
            </a:pPr>
            <a:r>
              <a:rPr sz="1350" b="1">
                <a:solidFill>
                  <a:srgbClr val="0F172A"/>
                </a:solidFill>
                <a:latin typeface="Segoe UI"/>
              </a:rPr>
              <a:t>✔ Deterministic Overrides:</a:t>
            </a:r>
            <a:r>
              <a:rPr sz="1300">
                <a:solidFill>
                  <a:srgbClr val="64748B"/>
                </a:solidFill>
                <a:latin typeface="Segoe UI"/>
              </a:rPr>
              <a:t> Hard rules protect crashing patients</a:t>
            </a:r>
          </a:p>
          <a:p>
            <a:pPr>
              <a:spcBef>
                <a:spcPts val="2200"/>
              </a:spcBef>
            </a:pPr>
            <a:r>
              <a:rPr sz="1350" b="1">
                <a:solidFill>
                  <a:srgbClr val="0F172A"/>
                </a:solidFill>
                <a:latin typeface="Segoe UI"/>
              </a:rPr>
              <a:t>✔ FDA 21 CFR Part 11:</a:t>
            </a:r>
            <a:r>
              <a:rPr sz="1300">
                <a:solidFill>
                  <a:srgbClr val="64748B"/>
                </a:solidFill>
                <a:latin typeface="Segoe UI"/>
              </a:rPr>
              <a:t> Tamper-proof immutable audit ledger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49470" y="5815584"/>
            <a:ext cx="3291840" cy="310896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36576"/>
          <a:lstStyle/>
          <a:p>
            <a:pPr algn="ctr"/>
            <a:r>
              <a:rPr sz="950" b="1">
                <a:solidFill>
                  <a:srgbClr val="475569"/>
                </a:solidFill>
                <a:latin typeface="Segoe UI"/>
              </a:rPr>
              <a:t>Safety: 100% Clinician Sovereignty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12556" y="1783080"/>
            <a:ext cx="3621024" cy="4434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112556" y="1783080"/>
            <a:ext cx="3621024" cy="73152"/>
          </a:xfrm>
          <a:prstGeom prst="round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13724" y="1984248"/>
            <a:ext cx="3218688" cy="37947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050" b="1">
                <a:solidFill>
                  <a:srgbClr val="334155"/>
                </a:solidFill>
                <a:latin typeface="Segoe UI"/>
              </a:rPr>
              <a:t>POINT 03</a:t>
            </a:r>
          </a:p>
          <a:p>
            <a:pPr>
              <a:spcBef>
                <a:spcPts val="600"/>
              </a:spcBef>
            </a:pPr>
            <a:r>
              <a:rPr sz="1900" b="1">
                <a:solidFill>
                  <a:srgbClr val="0F172A"/>
                </a:solidFill>
                <a:latin typeface="Segoe UI"/>
              </a:rPr>
              <a:t>Future Roadmap</a:t>
            </a:r>
          </a:p>
          <a:p>
            <a:pPr>
              <a:spcBef>
                <a:spcPts val="2200"/>
              </a:spcBef>
            </a:pPr>
            <a:r>
              <a:rPr sz="1350" b="1">
                <a:solidFill>
                  <a:srgbClr val="0F172A"/>
                </a:solidFill>
                <a:latin typeface="Segoe UI"/>
              </a:rPr>
              <a:t>✔ Multimodal AI:</a:t>
            </a:r>
            <a:r>
              <a:rPr sz="1300">
                <a:solidFill>
                  <a:srgbClr val="64748B"/>
                </a:solidFill>
                <a:latin typeface="Segoe UI"/>
              </a:rPr>
              <a:t> Ingest raw 12-lead ECG &amp; DICOM image scans</a:t>
            </a:r>
          </a:p>
          <a:p>
            <a:pPr>
              <a:spcBef>
                <a:spcPts val="2200"/>
              </a:spcBef>
            </a:pPr>
            <a:r>
              <a:rPr sz="1350" b="1">
                <a:solidFill>
                  <a:srgbClr val="0F172A"/>
                </a:solidFill>
                <a:latin typeface="Segoe UI"/>
              </a:rPr>
              <a:t>✔ Federated Learning:</a:t>
            </a:r>
            <a:r>
              <a:rPr sz="1300">
                <a:solidFill>
                  <a:srgbClr val="64748B"/>
                </a:solidFill>
                <a:latin typeface="Segoe UI"/>
              </a:rPr>
              <a:t> Multi-hospital collaborative training</a:t>
            </a:r>
          </a:p>
          <a:p>
            <a:pPr>
              <a:spcBef>
                <a:spcPts val="2200"/>
              </a:spcBef>
            </a:pPr>
            <a:r>
              <a:rPr sz="1350" b="1">
                <a:solidFill>
                  <a:srgbClr val="0F172A"/>
                </a:solidFill>
                <a:latin typeface="Segoe UI"/>
              </a:rPr>
              <a:t>✔ Edge Deployment:</a:t>
            </a:r>
            <a:r>
              <a:rPr sz="1300">
                <a:solidFill>
                  <a:srgbClr val="64748B"/>
                </a:solidFill>
                <a:latin typeface="Segoe UI"/>
              </a:rPr>
              <a:t> Bedside micro-controllers for rural clinics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77148" y="5815584"/>
            <a:ext cx="3291840" cy="310896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36576"/>
          <a:lstStyle/>
          <a:p>
            <a:pPr algn="ctr"/>
            <a:r>
              <a:rPr sz="950" b="1">
                <a:solidFill>
                  <a:srgbClr val="475569"/>
                </a:solidFill>
                <a:latin typeface="Segoe UI"/>
              </a:rPr>
              <a:t>Future: Multimodal &amp; Federated Edge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382512"/>
            <a:ext cx="11277295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>
                <a:solidFill>
                  <a:srgbClr val="64748B"/>
                </a:solidFill>
                <a:latin typeface="Segoe UI"/>
              </a:rPr>
              <a:t>HealthNova AI  •  Assistive Intelligence Only  •  Human-in-the-Loop Clinician Sign-Off Mandated  •  21 CFR Part 11 Aligned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